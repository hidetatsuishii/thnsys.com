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25" d="100"/>
          <a:sy n="125" d="100"/>
        </p:scale>
        <p:origin x="6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35A4E-79D1-EFFD-CFA5-A7F112891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E098B1-70E7-4EC5-144D-FFB94A74C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91A31C-E8A0-025F-E080-9F379E37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5BA1A-E812-1F44-6909-EBBD80EE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A4A80C-903D-B729-690C-FCCB0FB2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89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957CB-EA8D-83A3-A584-C4FEADFE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A21606-43B6-ABB3-E2BF-075A6F5E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391D18-6741-154D-ACA7-58B4BDC8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D96A56-D989-320E-1034-A6DC069F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48FE3-D84E-B7EC-EEAC-E6596432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03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AF930-F779-7654-C55E-DA28610D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963DAE-3280-92E3-438D-4B540821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9D73F9-38D4-8B2F-9AFE-9698C3DF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98295-49F2-79BA-419F-EC201FA9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03C432-AC48-7112-26FC-A1CCC756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36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33E384-5F04-1B07-A1C6-C8B550DF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26E2A5-A6C7-0CAD-6B07-89198B2FA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0FEE5-13F0-C279-63FB-4A18436F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50A393-3F6A-4EEC-4E9B-A5A98C30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80E0BC-2F26-70DB-67F1-C91A04E1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AD7704-4DE5-CA2A-7791-5388424B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13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227B9-859E-AE75-CABA-6B1D0F14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93A51A-1591-1EEE-9583-B90C6F35C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BF3E9E-D051-9317-8077-78661474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E5FDC8-1E89-9A1D-463A-73B00F84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B856B6C-6275-61EB-69A6-FE04FD7CE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569816-9694-3229-5591-3682B6C9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93CCDD-4CE0-6B9E-510F-BF049169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042E15-AFC1-D108-7FA8-64D12FA1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57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AB012-2A52-5691-F879-443704CA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F8C168-305A-D215-6E8A-3DF45F4D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D6B057-5510-A486-FEE9-7A84E462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9E5724-A74B-87C9-B1AE-A4C07664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22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FE89FE-FABC-C71F-14DF-70F7E497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E45380-9086-BF01-DB07-68632AC0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12502-3FCD-DDC4-0884-2C20B037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95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00EED2-BD56-7223-99C8-9A07232B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92F37C-9968-1DB6-3A33-D7F52E2E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4D538D-579F-E5C1-63B7-A45E2FDE3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AA74EE-D5D3-0BE2-ABC7-0F224152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37DA31-9F5D-3D45-305C-3F6B399F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8BD39C-3C6D-611D-E963-9703C443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B21E9-D36A-8B4C-B31F-2B3A216A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FBFE67-147A-AC39-5E81-28C1893E8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282BCA-6DB6-6C07-E046-8786EE459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5DA908-BDD1-54F2-4996-AD845384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7D7E54-E883-CC3B-5462-E3942BB2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3592BE-5F49-6E6A-EC75-BB88362D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7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8AB00-50B3-C61A-3CDC-02F59BE2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281968-8625-2AF0-F642-46FB909B1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761D7-9181-27A6-CAA7-FB7CE3AA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ADED3F-5047-874E-B39E-7C2EB5E2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1A120D-7D8E-25D4-DBF1-7C738B73C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9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AA8C23-5898-3612-6804-F70CDE9D1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FAD9B8-7E53-04B1-6E98-2C673142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CFFB44-1996-43CB-1456-703F7F3B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6B2AFB-E590-49A1-33A1-FF50A917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3B5350-92AC-E59A-1269-B1A02EA0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22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DC2683-920F-F699-82C2-76BA5A12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886B8C-2AA8-2403-A6BC-4113CA7E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20BC70-FE75-3A57-F21A-22F9C7B69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CEFC9-8389-4AB9-928D-33999C1E90F2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7C8E13-74A2-8829-4885-94E15124E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B83D88-D3AC-733F-E855-9E2E404C1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79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5075-740B-33B0-8643-203FFACC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82C3387-6816-E168-CB7A-79483FDFED4A}"/>
              </a:ext>
            </a:extLst>
          </p:cNvPr>
          <p:cNvGrpSpPr/>
          <p:nvPr/>
        </p:nvGrpSpPr>
        <p:grpSpPr>
          <a:xfrm>
            <a:off x="666700" y="1857177"/>
            <a:ext cx="2990258" cy="2670001"/>
            <a:chOff x="2412329" y="670033"/>
            <a:chExt cx="5923766" cy="5289331"/>
          </a:xfrm>
        </p:grpSpPr>
        <p:pic>
          <p:nvPicPr>
            <p:cNvPr id="3" name="図 2" descr="グラフィカル ユーザー インターフェイス, アプリケーション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FA7630DE-2095-B0C7-1BB5-F7F1AE8D9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2329" y="670033"/>
              <a:ext cx="5923766" cy="528933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3BB3E5A5-695B-1A29-B196-DE0BAD1D1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447"/>
            <a:stretch>
              <a:fillRect/>
            </a:stretch>
          </p:blipFill>
          <p:spPr>
            <a:xfrm>
              <a:off x="2415115" y="1061186"/>
              <a:ext cx="643467" cy="312804"/>
            </a:xfrm>
            <a:prstGeom prst="rect">
              <a:avLst/>
            </a:prstGeom>
          </p:spPr>
        </p:pic>
      </p:grpSp>
      <p:pic>
        <p:nvPicPr>
          <p:cNvPr id="1028" name="Picture 4" descr="住宅・不動産業界向けマーケティングオートメーション「KASIKA」のご紹介 - 住宅・不動産業界に特化したマーケティングオートメーションツール『 KASIKA』 - Cocolive 株式会社">
            <a:extLst>
              <a:ext uri="{FF2B5EF4-FFF2-40B4-BE49-F238E27FC236}">
                <a16:creationId xmlns:a16="http://schemas.microsoft.com/office/drawing/2014/main" id="{739ABB98-9E6C-12A5-7233-0DAADA555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090" y="89946"/>
            <a:ext cx="4781081" cy="3585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 descr="デスクトップコンピューターが置かれ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0D36DEC7-26A5-09C4-07F2-52DE69A87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531" y="4075789"/>
            <a:ext cx="3638299" cy="2278873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DEFBFFE-A2FE-9190-80EE-6AB354480093}"/>
              </a:ext>
            </a:extLst>
          </p:cNvPr>
          <p:cNvSpPr/>
          <p:nvPr/>
        </p:nvSpPr>
        <p:spPr>
          <a:xfrm>
            <a:off x="5025822" y="6243066"/>
            <a:ext cx="772885" cy="5116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887C65C2-2349-1D05-4746-D079AD9B58BE}"/>
              </a:ext>
            </a:extLst>
          </p:cNvPr>
          <p:cNvSpPr/>
          <p:nvPr/>
        </p:nvSpPr>
        <p:spPr>
          <a:xfrm rot="4145636">
            <a:off x="4210793" y="1173116"/>
            <a:ext cx="772885" cy="2422264"/>
          </a:xfrm>
          <a:prstGeom prst="downArrow">
            <a:avLst>
              <a:gd name="adj1" fmla="val 50000"/>
              <a:gd name="adj2" fmla="val 63516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462FE5BB-C9B8-B313-F964-7688AE00D38E}"/>
              </a:ext>
            </a:extLst>
          </p:cNvPr>
          <p:cNvSpPr/>
          <p:nvPr/>
        </p:nvSpPr>
        <p:spPr>
          <a:xfrm rot="17743466">
            <a:off x="4610431" y="2530049"/>
            <a:ext cx="772885" cy="3458382"/>
          </a:xfrm>
          <a:prstGeom prst="downArrow">
            <a:avLst>
              <a:gd name="adj1" fmla="val 50000"/>
              <a:gd name="adj2" fmla="val 63516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2" name="Picture 8" descr="CSVイラスト｜無料イラスト・フリー素材なら「イラストAC」">
            <a:extLst>
              <a:ext uri="{FF2B5EF4-FFF2-40B4-BE49-F238E27FC236}">
                <a16:creationId xmlns:a16="http://schemas.microsoft.com/office/drawing/2014/main" id="{06A21FAA-45FB-F00D-8D4C-B110AC1B8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4706" l="9934" r="89845">
                        <a14:foregroundMark x1="32230" y1="10588" x2="66004" y2="27647"/>
                        <a14:foregroundMark x1="62472" y1="17941" x2="75276" y2="50882"/>
                        <a14:foregroundMark x1="74172" y1="45000" x2="72627" y2="75294"/>
                        <a14:foregroundMark x1="60927" y1="39706" x2="54967" y2="83235"/>
                        <a14:foregroundMark x1="35541" y1="53529" x2="38631" y2="73824"/>
                        <a14:foregroundMark x1="29581" y1="50588" x2="30022" y2="72647"/>
                        <a14:foregroundMark x1="38852" y1="43824" x2="35529" y2="88884"/>
                        <a14:backgroundMark x1="35099" y1="93529" x2="30905" y2="93235"/>
                        <a14:backgroundMark x1="37748" y1="93529" x2="30684" y2="935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5385" y="4447313"/>
            <a:ext cx="1033631" cy="775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CSVイラスト｜無料イラスト・フリー素材なら「イラストAC」">
            <a:extLst>
              <a:ext uri="{FF2B5EF4-FFF2-40B4-BE49-F238E27FC236}">
                <a16:creationId xmlns:a16="http://schemas.microsoft.com/office/drawing/2014/main" id="{3626C080-1A1E-F14D-99A7-B2219BB73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4706" l="9934" r="89845">
                        <a14:foregroundMark x1="32230" y1="10588" x2="66004" y2="27647"/>
                        <a14:foregroundMark x1="62472" y1="17941" x2="75276" y2="50882"/>
                        <a14:foregroundMark x1="74172" y1="45000" x2="72627" y2="75294"/>
                        <a14:foregroundMark x1="60927" y1="39706" x2="54967" y2="83235"/>
                        <a14:foregroundMark x1="35541" y1="53529" x2="38631" y2="73824"/>
                        <a14:foregroundMark x1="29581" y1="50588" x2="30022" y2="72647"/>
                        <a14:foregroundMark x1="38852" y1="43824" x2="35529" y2="88884"/>
                        <a14:backgroundMark x1="35099" y1="93529" x2="30905" y2="93235"/>
                        <a14:backgroundMark x1="37748" y1="93529" x2="30684" y2="935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053" y="4560734"/>
            <a:ext cx="1033631" cy="775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CSVイラスト｜無料イラスト・フリー素材なら「イラストAC」">
            <a:extLst>
              <a:ext uri="{FF2B5EF4-FFF2-40B4-BE49-F238E27FC236}">
                <a16:creationId xmlns:a16="http://schemas.microsoft.com/office/drawing/2014/main" id="{93B54D8A-EDBB-2892-66C6-BD74655E2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4706" l="9934" r="89845">
                        <a14:foregroundMark x1="32230" y1="10588" x2="66004" y2="27647"/>
                        <a14:foregroundMark x1="62472" y1="17941" x2="75276" y2="50882"/>
                        <a14:foregroundMark x1="74172" y1="45000" x2="72627" y2="75294"/>
                        <a14:foregroundMark x1="60927" y1="39706" x2="54967" y2="83235"/>
                        <a14:foregroundMark x1="35541" y1="53529" x2="38631" y2="73824"/>
                        <a14:foregroundMark x1="29581" y1="50588" x2="30022" y2="72647"/>
                        <a14:foregroundMark x1="38852" y1="43824" x2="35529" y2="88884"/>
                        <a14:backgroundMark x1="35099" y1="93529" x2="30905" y2="93235"/>
                        <a14:backgroundMark x1="37748" y1="93529" x2="30684" y2="935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065" y="4692555"/>
            <a:ext cx="1033631" cy="775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CSVイラスト｜無料イラスト・フリー素材なら「イラストAC」">
            <a:extLst>
              <a:ext uri="{FF2B5EF4-FFF2-40B4-BE49-F238E27FC236}">
                <a16:creationId xmlns:a16="http://schemas.microsoft.com/office/drawing/2014/main" id="{0F7162F8-1845-6D4E-51C7-42372288B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4706" l="9934" r="89845">
                        <a14:foregroundMark x1="32230" y1="10588" x2="66004" y2="27647"/>
                        <a14:foregroundMark x1="62472" y1="17941" x2="75276" y2="50882"/>
                        <a14:foregroundMark x1="74172" y1="45000" x2="72627" y2="75294"/>
                        <a14:foregroundMark x1="60927" y1="39706" x2="54967" y2="83235"/>
                        <a14:foregroundMark x1="35541" y1="53529" x2="38631" y2="73824"/>
                        <a14:foregroundMark x1="29581" y1="50588" x2="30022" y2="72647"/>
                        <a14:foregroundMark x1="38852" y1="43824" x2="35529" y2="88884"/>
                        <a14:backgroundMark x1="35099" y1="93529" x2="30905" y2="93235"/>
                        <a14:backgroundMark x1="37748" y1="93529" x2="30684" y2="935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072" y="4810955"/>
            <a:ext cx="1033631" cy="775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図 17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94B6A6A4-07E9-3BA8-663B-03E35AC8F4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359" y="914377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09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C27C-D275-4752-2D9E-E0208890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Windows7で作成したタスクをWindows10で使えるようにしてみた！ – A2-blog">
            <a:extLst>
              <a:ext uri="{FF2B5EF4-FFF2-40B4-BE49-F238E27FC236}">
                <a16:creationId xmlns:a16="http://schemas.microsoft.com/office/drawing/2014/main" id="{0C3B4E6A-97E2-9982-FD30-B05C54568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1390650"/>
            <a:ext cx="72390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90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6081-8CA9-BCAA-6336-A364B879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C89FA7F-BF40-892F-3D6B-FEF533810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467" y="2626154"/>
            <a:ext cx="3810532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16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E8EB-0CEE-2DB8-1712-E2C28FF1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矢印: 下 6">
            <a:extLst>
              <a:ext uri="{FF2B5EF4-FFF2-40B4-BE49-F238E27FC236}">
                <a16:creationId xmlns:a16="http://schemas.microsoft.com/office/drawing/2014/main" id="{A99F9874-FBD9-38FE-D6F2-C787F79CC8F6}"/>
              </a:ext>
            </a:extLst>
          </p:cNvPr>
          <p:cNvSpPr/>
          <p:nvPr/>
        </p:nvSpPr>
        <p:spPr>
          <a:xfrm rot="16200000">
            <a:off x="5480733" y="829504"/>
            <a:ext cx="772885" cy="5198988"/>
          </a:xfrm>
          <a:prstGeom prst="downArrow">
            <a:avLst>
              <a:gd name="adj1" fmla="val 50000"/>
              <a:gd name="adj2" fmla="val 63516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1AF04B77-7056-8377-D040-2239765A4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745" y="2849179"/>
            <a:ext cx="2593189" cy="180597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C1B4F87-FBFA-4F1C-07F2-AA6670ECB665}"/>
              </a:ext>
            </a:extLst>
          </p:cNvPr>
          <p:cNvSpPr txBox="1"/>
          <p:nvPr/>
        </p:nvSpPr>
        <p:spPr>
          <a:xfrm>
            <a:off x="1312156" y="2984444"/>
            <a:ext cx="2031326" cy="83099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b="1" dirty="0"/>
              <a:t>KASHIKA</a:t>
            </a:r>
          </a:p>
          <a:p>
            <a:pPr algn="ctr"/>
            <a:r>
              <a:rPr lang="ja-JP" altLang="en-US" sz="2400" b="1" dirty="0"/>
              <a:t>ログイン情報</a:t>
            </a:r>
            <a:endParaRPr kumimoji="1" lang="en-US" altLang="ja-JP" sz="24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C0F5219-EBFC-1F94-3113-8AF490B2F626}"/>
              </a:ext>
            </a:extLst>
          </p:cNvPr>
          <p:cNvSpPr txBox="1"/>
          <p:nvPr/>
        </p:nvSpPr>
        <p:spPr>
          <a:xfrm>
            <a:off x="4897341" y="2358458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b="1" dirty="0"/>
              <a:t>暗号化</a:t>
            </a:r>
            <a:endParaRPr kumimoji="1" lang="en-US" altLang="ja-JP" sz="24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A144C44-F071-83F4-EFD1-28EA5BF301C5}"/>
              </a:ext>
            </a:extLst>
          </p:cNvPr>
          <p:cNvSpPr txBox="1"/>
          <p:nvPr/>
        </p:nvSpPr>
        <p:spPr>
          <a:xfrm>
            <a:off x="8466670" y="3198165"/>
            <a:ext cx="1542409" cy="461665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b="1" dirty="0"/>
              <a:t>PC</a:t>
            </a:r>
            <a:r>
              <a:rPr lang="ja-JP" altLang="en-US" sz="2400" b="1" dirty="0"/>
              <a:t>へ保存</a:t>
            </a:r>
            <a:endParaRPr kumimoji="1"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40989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B86E-4649-EA24-B019-ABF139C8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CSVイラスト｜無料イラスト・フリー素材なら「イラストAC」">
            <a:extLst>
              <a:ext uri="{FF2B5EF4-FFF2-40B4-BE49-F238E27FC236}">
                <a16:creationId xmlns:a16="http://schemas.microsoft.com/office/drawing/2014/main" id="{D06495EE-F218-BB2F-7252-9C4D28661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4706" l="9934" r="89845">
                        <a14:foregroundMark x1="32230" y1="10588" x2="66004" y2="27647"/>
                        <a14:foregroundMark x1="62472" y1="17941" x2="75276" y2="50882"/>
                        <a14:foregroundMark x1="74172" y1="45000" x2="72627" y2="75294"/>
                        <a14:foregroundMark x1="60927" y1="39706" x2="54967" y2="83235"/>
                        <a14:foregroundMark x1="35541" y1="53529" x2="38631" y2="73824"/>
                        <a14:foregroundMark x1="29581" y1="50588" x2="30022" y2="72647"/>
                        <a14:foregroundMark x1="38852" y1="43824" x2="35529" y2="88884"/>
                        <a14:backgroundMark x1="35099" y1="93529" x2="30905" y2="93235"/>
                        <a14:backgroundMark x1="37748" y1="93529" x2="30684" y2="935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484" y="2260600"/>
            <a:ext cx="2446220" cy="183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矢印: 下 2">
            <a:extLst>
              <a:ext uri="{FF2B5EF4-FFF2-40B4-BE49-F238E27FC236}">
                <a16:creationId xmlns:a16="http://schemas.microsoft.com/office/drawing/2014/main" id="{E79517B8-B9F3-A707-F6AB-1B4DD4F0FB18}"/>
              </a:ext>
            </a:extLst>
          </p:cNvPr>
          <p:cNvSpPr/>
          <p:nvPr/>
        </p:nvSpPr>
        <p:spPr>
          <a:xfrm rot="15134733">
            <a:off x="4677707" y="843832"/>
            <a:ext cx="772885" cy="3014303"/>
          </a:xfrm>
          <a:prstGeom prst="downArrow">
            <a:avLst>
              <a:gd name="adj1" fmla="val 50000"/>
              <a:gd name="adj2" fmla="val 63516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矢印: 下 3">
            <a:extLst>
              <a:ext uri="{FF2B5EF4-FFF2-40B4-BE49-F238E27FC236}">
                <a16:creationId xmlns:a16="http://schemas.microsoft.com/office/drawing/2014/main" id="{EAB844E9-E4AD-F520-14FF-C688B8809542}"/>
              </a:ext>
            </a:extLst>
          </p:cNvPr>
          <p:cNvSpPr/>
          <p:nvPr/>
        </p:nvSpPr>
        <p:spPr>
          <a:xfrm rot="17377637">
            <a:off x="4673885" y="2426206"/>
            <a:ext cx="772885" cy="3014303"/>
          </a:xfrm>
          <a:prstGeom prst="downArrow">
            <a:avLst>
              <a:gd name="adj1" fmla="val 50000"/>
              <a:gd name="adj2" fmla="val 63516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6" name="Picture 4" descr="サーバーアイコン Stock Vector | Adobe Stock">
            <a:extLst>
              <a:ext uri="{FF2B5EF4-FFF2-40B4-BE49-F238E27FC236}">
                <a16:creationId xmlns:a16="http://schemas.microsoft.com/office/drawing/2014/main" id="{524FB424-51BD-1F32-D173-84FCEB891C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0" t="8519" r="23611" b="8765"/>
          <a:stretch>
            <a:fillRect/>
          </a:stretch>
        </p:blipFill>
        <p:spPr bwMode="auto">
          <a:xfrm>
            <a:off x="7540417" y="1402442"/>
            <a:ext cx="1233617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F43A55-1D4D-9134-573D-76FB11714617}"/>
              </a:ext>
            </a:extLst>
          </p:cNvPr>
          <p:cNvSpPr txBox="1"/>
          <p:nvPr/>
        </p:nvSpPr>
        <p:spPr>
          <a:xfrm>
            <a:off x="7141564" y="1003791"/>
            <a:ext cx="20313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b="1" dirty="0"/>
              <a:t>共有サーバー</a:t>
            </a:r>
            <a:endParaRPr kumimoji="1" lang="en-US" altLang="ja-JP" sz="24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64709CB-3666-8AA2-D3F5-F318939562F5}"/>
              </a:ext>
            </a:extLst>
          </p:cNvPr>
          <p:cNvSpPr txBox="1"/>
          <p:nvPr/>
        </p:nvSpPr>
        <p:spPr>
          <a:xfrm>
            <a:off x="6833787" y="3571494"/>
            <a:ext cx="264687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b="1" dirty="0"/>
              <a:t>自身のパソコン内</a:t>
            </a:r>
            <a:endParaRPr kumimoji="1" lang="en-US" altLang="ja-JP" sz="2400" b="1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C6EC7938-73E5-68EC-EE13-76CCABCFFEFE}"/>
              </a:ext>
            </a:extLst>
          </p:cNvPr>
          <p:cNvGrpSpPr/>
          <p:nvPr/>
        </p:nvGrpSpPr>
        <p:grpSpPr>
          <a:xfrm>
            <a:off x="6239932" y="4096616"/>
            <a:ext cx="2832563" cy="1927078"/>
            <a:chOff x="5025822" y="4075789"/>
            <a:chExt cx="4089008" cy="2678905"/>
          </a:xfrm>
        </p:grpSpPr>
        <p:pic>
          <p:nvPicPr>
            <p:cNvPr id="7" name="図 6" descr="デスクトップコンピューターが置かれている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EDB5A3F5-F703-6957-6692-F011E541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76531" y="4075789"/>
              <a:ext cx="3638299" cy="2278873"/>
            </a:xfrm>
            <a:prstGeom prst="rect">
              <a:avLst/>
            </a:prstGeom>
          </p:spPr>
        </p:pic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0215249-E653-B74B-BCBF-DADF3FA1035F}"/>
                </a:ext>
              </a:extLst>
            </p:cNvPr>
            <p:cNvSpPr/>
            <p:nvPr/>
          </p:nvSpPr>
          <p:spPr>
            <a:xfrm>
              <a:off x="5025822" y="6243066"/>
              <a:ext cx="772885" cy="511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E277F83-7253-59BD-E307-3E34C747D3E0}"/>
              </a:ext>
            </a:extLst>
          </p:cNvPr>
          <p:cNvSpPr txBox="1"/>
          <p:nvPr/>
        </p:nvSpPr>
        <p:spPr>
          <a:xfrm>
            <a:off x="1170060" y="1438124"/>
            <a:ext cx="326243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b="1" dirty="0"/>
              <a:t>好きな場所に保存可能</a:t>
            </a:r>
            <a:endParaRPr kumimoji="1"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135471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CBC3-E0C2-C7DF-3328-A39011F2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954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13CD-B8CF-3C71-D18E-B343F707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4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7840-4AAD-73EA-FC05-6DE1953C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43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5536</TotalTime>
  <Words>18</Words>
  <Application>Microsoft Office PowerPoint</Application>
  <PresentationFormat>ワイド画面</PresentationFormat>
  <Paragraphs>7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東宝ハウスNEXT 石井 秀龍</dc:creator>
  <cp:lastModifiedBy>東宝ハウスNEXT 石井 秀龍</cp:lastModifiedBy>
  <cp:revision>6</cp:revision>
  <dcterms:created xsi:type="dcterms:W3CDTF">2026-01-08T08:33:31Z</dcterms:created>
  <dcterms:modified xsi:type="dcterms:W3CDTF">2026-01-12T04:58:31Z</dcterms:modified>
</cp:coreProperties>
</file>