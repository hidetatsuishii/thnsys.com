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6.jpe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gif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6F9A0EBF-CDD0-BE8B-4112-A79213CA1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858" y="1375647"/>
            <a:ext cx="3838923" cy="3887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8" name="Picture 4" descr="SUUMOさんから取材を受けたの巻|株式会社大丸｜学芸大学で創業79年 不動産 賃貸・売買・管理">
            <a:extLst>
              <a:ext uri="{FF2B5EF4-FFF2-40B4-BE49-F238E27FC236}">
                <a16:creationId xmlns:a16="http://schemas.microsoft.com/office/drawing/2014/main" id="{5197005B-250E-C9E1-D8AB-15A8A3A0FC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21" r="52086" b="41597"/>
          <a:stretch>
            <a:fillRect/>
          </a:stretch>
        </p:blipFill>
        <p:spPr bwMode="auto">
          <a:xfrm>
            <a:off x="8637189" y="3667154"/>
            <a:ext cx="2500993" cy="83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不動産情報システム「レインズ」と「ラビーネット」加入のメリット | 全日本不動産協会 不動産保証協会 埼玉県本部">
            <a:extLst>
              <a:ext uri="{FF2B5EF4-FFF2-40B4-BE49-F238E27FC236}">
                <a16:creationId xmlns:a16="http://schemas.microsoft.com/office/drawing/2014/main" id="{65A12575-8062-819D-4C9D-9B07584D1B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4" t="24506" r="4571" b="24725"/>
          <a:stretch>
            <a:fillRect/>
          </a:stretch>
        </p:blipFill>
        <p:spPr bwMode="auto">
          <a:xfrm>
            <a:off x="8480944" y="817453"/>
            <a:ext cx="2729594" cy="100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業プロ株式会社の採用・求人情報-engage">
            <a:extLst>
              <a:ext uri="{FF2B5EF4-FFF2-40B4-BE49-F238E27FC236}">
                <a16:creationId xmlns:a16="http://schemas.microsoft.com/office/drawing/2014/main" id="{D113FAD1-4C72-1F91-E8EB-55FC0A1B7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239" y="2276485"/>
            <a:ext cx="1700894" cy="82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画像転送枠オプション追加拡張【Yahoo!不動産】について│不動産システム開発│株式会社プライムクロス">
            <a:extLst>
              <a:ext uri="{FF2B5EF4-FFF2-40B4-BE49-F238E27FC236}">
                <a16:creationId xmlns:a16="http://schemas.microsoft.com/office/drawing/2014/main" id="{9A5547CF-2705-1B8F-5D06-5F178E7B31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t="26230" r="19286" b="30838"/>
          <a:stretch>
            <a:fillRect/>
          </a:stretch>
        </p:blipFill>
        <p:spPr bwMode="auto">
          <a:xfrm>
            <a:off x="8595245" y="5073925"/>
            <a:ext cx="2819400" cy="68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2FFEB34D-A948-4D1D-A0AE-12016EF6FF81}"/>
              </a:ext>
            </a:extLst>
          </p:cNvPr>
          <p:cNvGrpSpPr/>
          <p:nvPr/>
        </p:nvGrpSpPr>
        <p:grpSpPr>
          <a:xfrm>
            <a:off x="-245267" y="1930269"/>
            <a:ext cx="3458251" cy="2593688"/>
            <a:chOff x="2842624" y="827596"/>
            <a:chExt cx="4572000" cy="3429000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85AD6905-F919-0E05-159B-6031DA27CB44}"/>
                </a:ext>
              </a:extLst>
            </p:cNvPr>
            <p:cNvGrpSpPr/>
            <p:nvPr/>
          </p:nvGrpSpPr>
          <p:grpSpPr>
            <a:xfrm>
              <a:off x="2842624" y="827596"/>
              <a:ext cx="4572000" cy="3429000"/>
              <a:chOff x="2616326" y="1057274"/>
              <a:chExt cx="4572000" cy="3429000"/>
            </a:xfrm>
          </p:grpSpPr>
          <p:pic>
            <p:nvPicPr>
              <p:cNvPr id="1044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FCF39B9A-618B-61CA-CCFC-6D9C5126E8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6326" y="1057274"/>
                <a:ext cx="4572000" cy="3429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858143D1-4965-2BBA-101F-1A5CD404D4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117" t="40519" r="41740" b="39908"/>
              <a:stretch>
                <a:fillRect/>
              </a:stretch>
            </p:blipFill>
            <p:spPr bwMode="auto">
              <a:xfrm>
                <a:off x="3349403" y="1514991"/>
                <a:ext cx="1698173" cy="6711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E1302B1D-8DCD-E896-14D9-871735DA23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95" t="62513" r="37432" b="17913"/>
              <a:stretch>
                <a:fillRect/>
              </a:stretch>
            </p:blipFill>
            <p:spPr bwMode="auto">
              <a:xfrm>
                <a:off x="3232585" y="2402828"/>
                <a:ext cx="2243631" cy="7818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40" name="Picture 16" descr="「マルチユースV3（コンバーター）」3つの特徴と価格（初期費用）｜ミカタストア">
              <a:extLst>
                <a:ext uri="{FF2B5EF4-FFF2-40B4-BE49-F238E27FC236}">
                  <a16:creationId xmlns:a16="http://schemas.microsoft.com/office/drawing/2014/main" id="{EC3E24A9-1F3E-71C2-1CFC-CA96F607A5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817" t="52559" r="43577" b="41983"/>
            <a:stretch>
              <a:fillRect/>
            </a:stretch>
          </p:blipFill>
          <p:spPr bwMode="auto">
            <a:xfrm>
              <a:off x="4313147" y="2349075"/>
              <a:ext cx="1834466" cy="469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>
              <a:extLst>
                <a:ext uri="{FF2B5EF4-FFF2-40B4-BE49-F238E27FC236}">
                  <a16:creationId xmlns:a16="http://schemas.microsoft.com/office/drawing/2014/main" id="{0DEEE4E3-ABBC-BEF8-BEC8-9209BFBDE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1764" y="3160423"/>
              <a:ext cx="1656136" cy="431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矢印: 右 9">
            <a:extLst>
              <a:ext uri="{FF2B5EF4-FFF2-40B4-BE49-F238E27FC236}">
                <a16:creationId xmlns:a16="http://schemas.microsoft.com/office/drawing/2014/main" id="{2E833941-136A-21E0-3EC2-1B49395537AA}"/>
              </a:ext>
            </a:extLst>
          </p:cNvPr>
          <p:cNvSpPr/>
          <p:nvPr/>
        </p:nvSpPr>
        <p:spPr>
          <a:xfrm>
            <a:off x="2671134" y="3029479"/>
            <a:ext cx="1282980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034A4A0C-CB72-B580-052B-78D2A2EAEED6}"/>
              </a:ext>
            </a:extLst>
          </p:cNvPr>
          <p:cNvSpPr/>
          <p:nvPr/>
        </p:nvSpPr>
        <p:spPr>
          <a:xfrm>
            <a:off x="7114324" y="3029479"/>
            <a:ext cx="1282980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01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不動産情報システム「レインズ」と「ラビーネット」加入のメリット | 全日本不動産協会 不動産保証協会 埼玉県本部">
            <a:extLst>
              <a:ext uri="{FF2B5EF4-FFF2-40B4-BE49-F238E27FC236}">
                <a16:creationId xmlns:a16="http://schemas.microsoft.com/office/drawing/2014/main" id="{54296DE5-6FFA-45C3-8D24-41DA2CFD4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0" t="38368" r="4571" b="38984"/>
          <a:stretch>
            <a:fillRect/>
          </a:stretch>
        </p:blipFill>
        <p:spPr bwMode="auto">
          <a:xfrm>
            <a:off x="6386154" y="1507529"/>
            <a:ext cx="1372900" cy="44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FC04618-496A-D149-262D-2BA2399F2382}"/>
              </a:ext>
            </a:extLst>
          </p:cNvPr>
          <p:cNvGrpSpPr/>
          <p:nvPr/>
        </p:nvGrpSpPr>
        <p:grpSpPr>
          <a:xfrm>
            <a:off x="2972765" y="1264166"/>
            <a:ext cx="2616111" cy="2100206"/>
            <a:chOff x="2842624" y="827596"/>
            <a:chExt cx="4572000" cy="3429000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44888B9F-1CF4-FC07-E6D6-DEB55C53580B}"/>
                </a:ext>
              </a:extLst>
            </p:cNvPr>
            <p:cNvGrpSpPr/>
            <p:nvPr/>
          </p:nvGrpSpPr>
          <p:grpSpPr>
            <a:xfrm>
              <a:off x="2842624" y="827596"/>
              <a:ext cx="4572000" cy="3429000"/>
              <a:chOff x="2616326" y="1057274"/>
              <a:chExt cx="4572000" cy="3429000"/>
            </a:xfrm>
          </p:grpSpPr>
          <p:pic>
            <p:nvPicPr>
              <p:cNvPr id="8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17A5B536-1D37-062A-DFA1-0145B088BE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6326" y="1057274"/>
                <a:ext cx="4572000" cy="3429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B3946098-63FD-0883-4958-C5B1100564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117" t="40519" r="41740" b="39908"/>
              <a:stretch>
                <a:fillRect/>
              </a:stretch>
            </p:blipFill>
            <p:spPr bwMode="auto">
              <a:xfrm>
                <a:off x="3349403" y="1514991"/>
                <a:ext cx="1698173" cy="6711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F2FCE94E-5383-3979-8465-04871F18AF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95" t="62513" r="37432" b="17913"/>
              <a:stretch>
                <a:fillRect/>
              </a:stretch>
            </p:blipFill>
            <p:spPr bwMode="auto">
              <a:xfrm>
                <a:off x="3232585" y="2402828"/>
                <a:ext cx="2243631" cy="7818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16" descr="「マルチユースV3（コンバーター）」3つの特徴と価格（初期費用）｜ミカタストア">
              <a:extLst>
                <a:ext uri="{FF2B5EF4-FFF2-40B4-BE49-F238E27FC236}">
                  <a16:creationId xmlns:a16="http://schemas.microsoft.com/office/drawing/2014/main" id="{CA21DED9-FE4E-90D4-417C-3C49AE32ED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817" t="52559" r="43577" b="41983"/>
            <a:stretch>
              <a:fillRect/>
            </a:stretch>
          </p:blipFill>
          <p:spPr bwMode="auto">
            <a:xfrm>
              <a:off x="4313147" y="2349075"/>
              <a:ext cx="1834466" cy="469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8">
              <a:extLst>
                <a:ext uri="{FF2B5EF4-FFF2-40B4-BE49-F238E27FC236}">
                  <a16:creationId xmlns:a16="http://schemas.microsoft.com/office/drawing/2014/main" id="{B5808A0C-C21E-BE63-402F-C16EEEB2B5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1764" y="3160423"/>
              <a:ext cx="1656136" cy="431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図 2" descr="ロゴ, 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79E1653-A3CB-27A2-1923-27B6CCC6F2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65" y="3167303"/>
            <a:ext cx="4553607" cy="1764075"/>
          </a:xfrm>
          <a:prstGeom prst="rect">
            <a:avLst/>
          </a:prstGeom>
        </p:spPr>
      </p:pic>
      <p:pic>
        <p:nvPicPr>
          <p:cNvPr id="12" name="Picture 4" descr="SUUMOさんから取材を受けたの巻|株式会社大丸｜学芸大学で創業79年 不動産 賃貸・売買・管理">
            <a:extLst>
              <a:ext uri="{FF2B5EF4-FFF2-40B4-BE49-F238E27FC236}">
                <a16:creationId xmlns:a16="http://schemas.microsoft.com/office/drawing/2014/main" id="{144D5685-1A49-28FF-711E-F907F2DFCA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21" r="52086" b="41597"/>
          <a:stretch>
            <a:fillRect/>
          </a:stretch>
        </p:blipFill>
        <p:spPr bwMode="auto">
          <a:xfrm>
            <a:off x="6225488" y="2321254"/>
            <a:ext cx="1628432" cy="54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業プロ株式会社の採用・求人情報-engage">
            <a:extLst>
              <a:ext uri="{FF2B5EF4-FFF2-40B4-BE49-F238E27FC236}">
                <a16:creationId xmlns:a16="http://schemas.microsoft.com/office/drawing/2014/main" id="{5B1C7A03-90F3-82EA-344E-E12EB7075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283" y="1930458"/>
            <a:ext cx="924641" cy="44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インターネットサービスヤフー・Yahoo!のIllustrator（AI・PNG形式）ロゴ素材 – 企業・ブランド等のロゴをIllustrator（AI・EPS形式）でトレースダウンロードフリー  素材の素材ナビ">
            <a:extLst>
              <a:ext uri="{FF2B5EF4-FFF2-40B4-BE49-F238E27FC236}">
                <a16:creationId xmlns:a16="http://schemas.microsoft.com/office/drawing/2014/main" id="{0B871F70-B768-AAF5-5F35-BA0171E35C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8" t="37868" r="9390" b="37986"/>
          <a:stretch>
            <a:fillRect/>
          </a:stretch>
        </p:blipFill>
        <p:spPr bwMode="auto">
          <a:xfrm>
            <a:off x="6291288" y="2802490"/>
            <a:ext cx="1562632" cy="31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6173-60BC-EC18-1792-0FDC69FD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111DA51-1A44-92AC-4512-3263755774CC}"/>
              </a:ext>
            </a:extLst>
          </p:cNvPr>
          <p:cNvGrpSpPr/>
          <p:nvPr/>
        </p:nvGrpSpPr>
        <p:grpSpPr>
          <a:xfrm>
            <a:off x="1291285" y="3921006"/>
            <a:ext cx="2616111" cy="2100206"/>
            <a:chOff x="2842624" y="827596"/>
            <a:chExt cx="4572000" cy="3428998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C955C9B1-BC78-DA70-2292-07909E34E63B}"/>
                </a:ext>
              </a:extLst>
            </p:cNvPr>
            <p:cNvGrpSpPr/>
            <p:nvPr/>
          </p:nvGrpSpPr>
          <p:grpSpPr>
            <a:xfrm>
              <a:off x="2842624" y="827596"/>
              <a:ext cx="4572000" cy="3428998"/>
              <a:chOff x="2616326" y="1057274"/>
              <a:chExt cx="4572000" cy="3429000"/>
            </a:xfrm>
          </p:grpSpPr>
          <p:pic>
            <p:nvPicPr>
              <p:cNvPr id="6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7B9EFC3D-1D86-8249-2EB2-D9568B0616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6326" y="1057274"/>
                <a:ext cx="4572000" cy="3429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DB6CCCFE-DAF1-B82E-46B8-EAA6F4AE65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117" t="40519" r="41740" b="39908"/>
              <a:stretch>
                <a:fillRect/>
              </a:stretch>
            </p:blipFill>
            <p:spPr bwMode="auto">
              <a:xfrm>
                <a:off x="3349403" y="1514991"/>
                <a:ext cx="1698173" cy="6711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0" descr="Csv」の写真素材 | 12,525件の無料イラスト画像 | Adobe Stock">
                <a:extLst>
                  <a:ext uri="{FF2B5EF4-FFF2-40B4-BE49-F238E27FC236}">
                    <a16:creationId xmlns:a16="http://schemas.microsoft.com/office/drawing/2014/main" id="{BF7E8BE1-2415-3F0C-EA17-2A8D3FB9B7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95" t="62513" r="37432" b="17913"/>
              <a:stretch>
                <a:fillRect/>
              </a:stretch>
            </p:blipFill>
            <p:spPr bwMode="auto">
              <a:xfrm>
                <a:off x="3232585" y="2402828"/>
                <a:ext cx="2243631" cy="7818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" name="Picture 16" descr="「マルチユースV3（コンバーター）」3つの特徴と価格（初期費用）｜ミカタストア">
              <a:extLst>
                <a:ext uri="{FF2B5EF4-FFF2-40B4-BE49-F238E27FC236}">
                  <a16:creationId xmlns:a16="http://schemas.microsoft.com/office/drawing/2014/main" id="{232C436C-B769-FCD5-3961-E15C73C0C4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817" t="52559" r="43577" b="41983"/>
            <a:stretch>
              <a:fillRect/>
            </a:stretch>
          </p:blipFill>
          <p:spPr bwMode="auto">
            <a:xfrm>
              <a:off x="4313147" y="2349076"/>
              <a:ext cx="1834467" cy="469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8">
              <a:extLst>
                <a:ext uri="{FF2B5EF4-FFF2-40B4-BE49-F238E27FC236}">
                  <a16:creationId xmlns:a16="http://schemas.microsoft.com/office/drawing/2014/main" id="{E2CD1821-63DE-8301-CAFD-7ED55F025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1764" y="3160423"/>
              <a:ext cx="1656137" cy="431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「マルチユースV3（コンバーター）」3つの特徴と価格（初期 ...">
            <a:extLst>
              <a:ext uri="{FF2B5EF4-FFF2-40B4-BE49-F238E27FC236}">
                <a16:creationId xmlns:a16="http://schemas.microsoft.com/office/drawing/2014/main" id="{C733A852-A504-0009-8B9B-A13A50F4A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80" t="44711" r="39892" b="27279"/>
          <a:stretch>
            <a:fillRect/>
          </a:stretch>
        </p:blipFill>
        <p:spPr bwMode="auto">
          <a:xfrm>
            <a:off x="8347554" y="1159087"/>
            <a:ext cx="2103121" cy="178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図 9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F795F109-0130-5336-EDFB-890ADB8D4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9" y="1833880"/>
            <a:ext cx="3549697" cy="3576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D1F21F79-2186-A75F-437E-7DDC6F505C7A}"/>
              </a:ext>
            </a:extLst>
          </p:cNvPr>
          <p:cNvSpPr/>
          <p:nvPr/>
        </p:nvSpPr>
        <p:spPr>
          <a:xfrm rot="20299368">
            <a:off x="3482458" y="4320024"/>
            <a:ext cx="1282980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84BA9CF2-F0A7-6491-5589-423781A3F5BF}"/>
              </a:ext>
            </a:extLst>
          </p:cNvPr>
          <p:cNvSpPr/>
          <p:nvPr/>
        </p:nvSpPr>
        <p:spPr>
          <a:xfrm rot="20299368">
            <a:off x="6967338" y="2404864"/>
            <a:ext cx="1282980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79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1CAE-53CD-5CDC-3617-D98DDE3B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xcel アイコンイラスト｜無料イラスト・フリー素材なら「イラストAC」">
            <a:extLst>
              <a:ext uri="{FF2B5EF4-FFF2-40B4-BE49-F238E27FC236}">
                <a16:creationId xmlns:a16="http://schemas.microsoft.com/office/drawing/2014/main" id="{C74970E9-FE02-A775-90BA-7A7F6180B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809" y="4261664"/>
            <a:ext cx="1468984" cy="1102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B90502C9-2BE2-DF60-9444-8C08AD04D97B}"/>
              </a:ext>
            </a:extLst>
          </p:cNvPr>
          <p:cNvSpPr/>
          <p:nvPr/>
        </p:nvSpPr>
        <p:spPr>
          <a:xfrm>
            <a:off x="2636781" y="5494286"/>
            <a:ext cx="7011715" cy="772510"/>
          </a:xfrm>
          <a:prstGeom prst="wedgeRectCallout">
            <a:avLst>
              <a:gd name="adj1" fmla="val -33400"/>
              <a:gd name="adj2" fmla="val -115844"/>
            </a:avLst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98" name="Picture 2" descr="Excel アイコンイラスト｜無料イラスト・フリー素材なら「イラストAC」">
            <a:extLst>
              <a:ext uri="{FF2B5EF4-FFF2-40B4-BE49-F238E27FC236}">
                <a16:creationId xmlns:a16="http://schemas.microsoft.com/office/drawing/2014/main" id="{4D0EB6EA-45DA-187E-3BE1-36A0D9520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65" y="1469556"/>
            <a:ext cx="1468984" cy="1102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3B828DC0-9B8C-3EB4-5531-77B99A419948}"/>
              </a:ext>
            </a:extLst>
          </p:cNvPr>
          <p:cNvSpPr/>
          <p:nvPr/>
        </p:nvSpPr>
        <p:spPr>
          <a:xfrm>
            <a:off x="283779" y="2829911"/>
            <a:ext cx="11248697" cy="953814"/>
          </a:xfrm>
          <a:prstGeom prst="wedgeRectCallout">
            <a:avLst>
              <a:gd name="adj1" fmla="val -40033"/>
              <a:gd name="adj2" fmla="val -115844"/>
            </a:avLst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2E33A1C-5421-8529-6EFE-02112CDFA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6" y="2853389"/>
            <a:ext cx="11176000" cy="90537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923C878-1320-B0EB-8089-C67926F13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130" y="5526588"/>
            <a:ext cx="6975366" cy="68976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1EB367-474D-F3F4-82DC-26A20A7F39F1}"/>
              </a:ext>
            </a:extLst>
          </p:cNvPr>
          <p:cNvSpPr txBox="1"/>
          <p:nvPr/>
        </p:nvSpPr>
        <p:spPr>
          <a:xfrm>
            <a:off x="359007" y="11481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差異あり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25CA203-BC7C-5620-88E8-B254537B2F43}"/>
              </a:ext>
            </a:extLst>
          </p:cNvPr>
          <p:cNvSpPr txBox="1"/>
          <p:nvPr/>
        </p:nvSpPr>
        <p:spPr>
          <a:xfrm>
            <a:off x="2747483" y="39480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差異なし</a:t>
            </a:r>
          </a:p>
        </p:txBody>
      </p:sp>
    </p:spTree>
    <p:extLst>
      <p:ext uri="{BB962C8B-B14F-4D97-AF65-F5344CB8AC3E}">
        <p14:creationId xmlns:p14="http://schemas.microsoft.com/office/powerpoint/2010/main" val="405131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CFEE4-A81C-6AB7-3DD3-D308AD57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BFC3E662-E306-1B7F-20AE-879860A6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426" y="1185377"/>
            <a:ext cx="2503442" cy="391932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F45BD4-943A-985D-E203-95C94E02D8DA}"/>
              </a:ext>
            </a:extLst>
          </p:cNvPr>
          <p:cNvSpPr txBox="1"/>
          <p:nvPr/>
        </p:nvSpPr>
        <p:spPr>
          <a:xfrm>
            <a:off x="5274593" y="2598237"/>
            <a:ext cx="3416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同じ住所の戸建てや、</a:t>
            </a:r>
            <a:endParaRPr lang="en-US" altLang="ja-JP" b="1" dirty="0"/>
          </a:p>
          <a:p>
            <a:r>
              <a:rPr lang="ja-JP" altLang="en-US" b="1" dirty="0"/>
              <a:t>同じマンションでも</a:t>
            </a:r>
            <a:endParaRPr lang="en-US" altLang="ja-JP" b="1" dirty="0"/>
          </a:p>
          <a:p>
            <a:r>
              <a:rPr lang="ja-JP" altLang="en-US" b="1" dirty="0"/>
              <a:t>平米数や写真などから比較して</a:t>
            </a:r>
            <a:endParaRPr lang="en-US" altLang="ja-JP" b="1" dirty="0"/>
          </a:p>
          <a:p>
            <a:r>
              <a:rPr kumimoji="1" lang="ja-JP" altLang="en-US" b="1" dirty="0"/>
              <a:t>別物件と判断が可能</a:t>
            </a:r>
          </a:p>
        </p:txBody>
      </p:sp>
    </p:spTree>
    <p:extLst>
      <p:ext uri="{BB962C8B-B14F-4D97-AF65-F5344CB8AC3E}">
        <p14:creationId xmlns:p14="http://schemas.microsoft.com/office/powerpoint/2010/main" val="67246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DDF8-E54C-02F6-7C54-13A4A5DB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CAFE0F5-16EA-4DC1-B7BF-E45910705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93" b="25862"/>
          <a:stretch>
            <a:fillRect/>
          </a:stretch>
        </p:blipFill>
        <p:spPr>
          <a:xfrm>
            <a:off x="2667000" y="2475186"/>
            <a:ext cx="6858000" cy="260919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E07B29-D409-0575-54BC-C53E9EFF2A28}"/>
              </a:ext>
            </a:extLst>
          </p:cNvPr>
          <p:cNvSpPr txBox="1"/>
          <p:nvPr/>
        </p:nvSpPr>
        <p:spPr>
          <a:xfrm>
            <a:off x="3733790" y="19822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通常モード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1F2018E-0A35-D1F0-BB1F-DDE9CC28BCEF}"/>
              </a:ext>
            </a:extLst>
          </p:cNvPr>
          <p:cNvSpPr txBox="1"/>
          <p:nvPr/>
        </p:nvSpPr>
        <p:spPr>
          <a:xfrm>
            <a:off x="6924738" y="19822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非表示モード</a:t>
            </a:r>
            <a:endParaRPr kumimoji="1" lang="ja-JP" alt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73ECAF7-B0F5-39AC-522E-1B872ACC3BC4}"/>
              </a:ext>
            </a:extLst>
          </p:cNvPr>
          <p:cNvSpPr/>
          <p:nvPr/>
        </p:nvSpPr>
        <p:spPr>
          <a:xfrm>
            <a:off x="3473450" y="2676525"/>
            <a:ext cx="2012950" cy="1162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376ABA0-F70C-40E3-0A05-A1A8C12A7FEC}"/>
              </a:ext>
            </a:extLst>
          </p:cNvPr>
          <p:cNvSpPr/>
          <p:nvPr/>
        </p:nvSpPr>
        <p:spPr>
          <a:xfrm>
            <a:off x="6705602" y="2671445"/>
            <a:ext cx="2012950" cy="1162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24" name="Picture 4" descr="作業中ですイラスト｜無料イラスト・フリー素材なら「イラストAC」">
            <a:extLst>
              <a:ext uri="{FF2B5EF4-FFF2-40B4-BE49-F238E27FC236}">
                <a16:creationId xmlns:a16="http://schemas.microsoft.com/office/drawing/2014/main" id="{A5E51F34-F6D7-8FB2-5C33-10A3024F3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36" b="20033"/>
          <a:stretch>
            <a:fillRect/>
          </a:stretch>
        </p:blipFill>
        <p:spPr bwMode="auto">
          <a:xfrm>
            <a:off x="3720033" y="2797810"/>
            <a:ext cx="1519783" cy="90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乗算記号 13">
            <a:extLst>
              <a:ext uri="{FF2B5EF4-FFF2-40B4-BE49-F238E27FC236}">
                <a16:creationId xmlns:a16="http://schemas.microsoft.com/office/drawing/2014/main" id="{DB03EE82-4D68-D5E0-C92B-FEDE5FE7F1DD}"/>
              </a:ext>
            </a:extLst>
          </p:cNvPr>
          <p:cNvSpPr/>
          <p:nvPr/>
        </p:nvSpPr>
        <p:spPr>
          <a:xfrm>
            <a:off x="3867784" y="3925822"/>
            <a:ext cx="1224280" cy="1224280"/>
          </a:xfrm>
          <a:prstGeom prst="mathMultiply">
            <a:avLst>
              <a:gd name="adj1" fmla="val 123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26" name="Picture 6" descr="デスクトップの壁紙メモテンプレートでおしゃれなデザインを無料で作成！ | Canva">
            <a:extLst>
              <a:ext uri="{FF2B5EF4-FFF2-40B4-BE49-F238E27FC236}">
                <a16:creationId xmlns:a16="http://schemas.microsoft.com/office/drawing/2014/main" id="{C6C79AB5-C211-AFE0-3EE6-9B68868AC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942" y="2700444"/>
            <a:ext cx="1961255" cy="110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楕円 14">
            <a:extLst>
              <a:ext uri="{FF2B5EF4-FFF2-40B4-BE49-F238E27FC236}">
                <a16:creationId xmlns:a16="http://schemas.microsoft.com/office/drawing/2014/main" id="{DB82EF73-2601-69EF-A54D-5342CED1DDC9}"/>
              </a:ext>
            </a:extLst>
          </p:cNvPr>
          <p:cNvSpPr/>
          <p:nvPr/>
        </p:nvSpPr>
        <p:spPr>
          <a:xfrm>
            <a:off x="7241044" y="4029754"/>
            <a:ext cx="937049" cy="937049"/>
          </a:xfrm>
          <a:prstGeom prst="ellipse">
            <a:avLst/>
          </a:prstGeom>
          <a:noFill/>
          <a:ln w="762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090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4339</TotalTime>
  <Words>31</Words>
  <Application>Microsoft Office PowerPoint</Application>
  <PresentationFormat>ワイド画面</PresentationFormat>
  <Paragraphs>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2</cp:revision>
  <dcterms:created xsi:type="dcterms:W3CDTF">2026-01-08T08:33:31Z</dcterms:created>
  <dcterms:modified xsi:type="dcterms:W3CDTF">2026-01-11T08:54:04Z</dcterms:modified>
</cp:coreProperties>
</file>