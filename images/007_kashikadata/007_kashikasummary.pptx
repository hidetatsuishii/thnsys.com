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7" r:id="rId3"/>
    <p:sldId id="265" r:id="rId4"/>
    <p:sldId id="268" r:id="rId5"/>
    <p:sldId id="269" r:id="rId6"/>
    <p:sldId id="270" r:id="rId7"/>
    <p:sldId id="271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235A4E-79D1-EFFD-CFA5-A7F112891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E098B1-70E7-4EC5-144D-FFB94A74C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91A31C-E8A0-025F-E080-9F379E37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25BA1A-E812-1F44-6909-EBBD80EE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A4A80C-903D-B729-690C-FCCB0FB2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89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D957CB-EA8D-83A3-A584-C4FEADFE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A21606-43B6-ABB3-E2BF-075A6F5EB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391D18-6741-154D-ACA7-58B4BDC8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D96A56-D989-320E-1034-A6DC069F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648FE3-D84E-B7EC-EEAC-E6596432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403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5AF930-F779-7654-C55E-DA28610D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963DAE-3280-92E3-438D-4B5408219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9D73F9-38D4-8B2F-9AFE-9698C3DF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D98295-49F2-79BA-419F-EC201FA9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03C432-AC48-7112-26FC-A1CCC756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36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33E384-5F04-1B07-A1C6-C8B550DF0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26E2A5-A6C7-0CAD-6B07-89198B2FA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B0FEE5-13F0-C279-63FB-4A18436F6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50A393-3F6A-4EEC-4E9B-A5A98C30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80E0BC-2F26-70DB-67F1-C91A04E1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AD7704-4DE5-CA2A-7791-5388424BF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137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227B9-859E-AE75-CABA-6B1D0F14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93A51A-1591-1EEE-9583-B90C6F35C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BF3E9E-D051-9317-8077-786614747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E5FDC8-1E89-9A1D-463A-73B00F849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B856B6C-6275-61EB-69A6-FE04FD7CE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569816-9694-3229-5591-3682B6C9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93CCDD-4CE0-6B9E-510F-BF049169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C042E15-AFC1-D108-7FA8-64D12FA1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57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AB012-2A52-5691-F879-443704CA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F8C168-305A-D215-6E8A-3DF45F4D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5D6B057-5510-A486-FEE9-7A84E462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9E5724-A74B-87C9-B1AE-A4C07664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223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5FE89FE-FABC-C71F-14DF-70F7E497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BE45380-9086-BF01-DB07-68632AC0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C12502-3FCD-DDC4-0884-2C20B037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295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00EED2-BD56-7223-99C8-9A07232B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92F37C-9968-1DB6-3A33-D7F52E2EA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4D538D-579F-E5C1-63B7-A45E2FDE3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AA74EE-D5D3-0BE2-ABC7-0F224152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37DA31-9F5D-3D45-305C-3F6B399F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8BD39C-3C6D-611D-E963-9703C443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0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B21E9-D36A-8B4C-B31F-2B3A216A8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CFBFE67-147A-AC39-5E81-28C1893E8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282BCA-6DB6-6C07-E046-8786EE459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5DA908-BDD1-54F2-4996-AD845384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7D7E54-E883-CC3B-5462-E3942BB2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3592BE-5F49-6E6A-EC75-BB88362D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73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8AB00-50B3-C61A-3CDC-02F59BE2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281968-8625-2AF0-F642-46FB909B1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A761D7-9181-27A6-CAA7-FB7CE3AA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ADED3F-5047-874E-B39E-7C2EB5E2F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1A120D-7D8E-25D4-DBF1-7C738B73C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196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9AA8C23-5898-3612-6804-F70CDE9D1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FAD9B8-7E53-04B1-6E98-2C6731421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CFFB44-1996-43CB-1456-703F7F3BF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6B2AFB-E590-49A1-33A1-FF50A917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3B5350-92AC-E59A-1269-B1A02EA0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22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9DC2683-920F-F699-82C2-76BA5A12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886B8C-2AA8-2403-A6BC-4113CA7E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20BC70-FE75-3A57-F21A-22F9C7B69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CEFC9-8389-4AB9-928D-33999C1E90F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7C8E13-74A2-8829-4885-94E15124E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B83D88-D3AC-733F-E855-9E2E404C1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679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5075-740B-33B0-8643-203FFACC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 descr="グラフ, テーブル, カレンダー&#10;&#10;AI 生成コンテンツは誤りを含む可能性があります。">
            <a:extLst>
              <a:ext uri="{FF2B5EF4-FFF2-40B4-BE49-F238E27FC236}">
                <a16:creationId xmlns:a16="http://schemas.microsoft.com/office/drawing/2014/main" id="{5302EDAC-AC7E-7E37-A429-54ABE6367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236" y="350405"/>
            <a:ext cx="3495606" cy="5273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図 16" descr="グラフ, テーブル, カレンダー&#10;&#10;AI 生成コンテンツは誤りを含む可能性があります。">
            <a:extLst>
              <a:ext uri="{FF2B5EF4-FFF2-40B4-BE49-F238E27FC236}">
                <a16:creationId xmlns:a16="http://schemas.microsoft.com/office/drawing/2014/main" id="{8B5AC365-C971-3B65-BA45-769DE432D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 l="9120" t="11601" r="3280" b="1855"/>
          <a:stretch>
            <a:fillRect/>
          </a:stretch>
        </p:blipFill>
        <p:spPr>
          <a:xfrm>
            <a:off x="7624250" y="962106"/>
            <a:ext cx="3061982" cy="4563612"/>
          </a:xfrm>
          <a:prstGeom prst="rect">
            <a:avLst/>
          </a:prstGeom>
          <a:ln>
            <a:noFill/>
          </a:ln>
        </p:spPr>
      </p:pic>
      <p:pic>
        <p:nvPicPr>
          <p:cNvPr id="14" name="図 13" descr="パソコン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0C7D6B91-345A-3B75-F2D8-B62E57736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9222" y="1191569"/>
            <a:ext cx="3728247" cy="5273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図 2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8F498048-6D23-8F60-C263-9E32444921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669" y="448354"/>
            <a:ext cx="5610391" cy="21768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矢印: 右 3">
            <a:extLst>
              <a:ext uri="{FF2B5EF4-FFF2-40B4-BE49-F238E27FC236}">
                <a16:creationId xmlns:a16="http://schemas.microsoft.com/office/drawing/2014/main" id="{989808F5-59FF-1ECA-3C86-C8C5F4162E4A}"/>
              </a:ext>
            </a:extLst>
          </p:cNvPr>
          <p:cNvSpPr/>
          <p:nvPr/>
        </p:nvSpPr>
        <p:spPr>
          <a:xfrm rot="5400000">
            <a:off x="2706872" y="2449823"/>
            <a:ext cx="1934441" cy="796480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117D99C1-C2FA-5CB1-B373-C4124CFFCDE9}"/>
              </a:ext>
            </a:extLst>
          </p:cNvPr>
          <p:cNvGrpSpPr/>
          <p:nvPr/>
        </p:nvGrpSpPr>
        <p:grpSpPr>
          <a:xfrm>
            <a:off x="2850443" y="4057713"/>
            <a:ext cx="1647297" cy="1199627"/>
            <a:chOff x="2616326" y="1057274"/>
            <a:chExt cx="4572000" cy="3429000"/>
          </a:xfrm>
        </p:grpSpPr>
        <p:pic>
          <p:nvPicPr>
            <p:cNvPr id="9" name="Picture 20" descr="Csv」の写真素材 | 12,525件の無料イラスト画像 | Adobe Stock">
              <a:extLst>
                <a:ext uri="{FF2B5EF4-FFF2-40B4-BE49-F238E27FC236}">
                  <a16:creationId xmlns:a16="http://schemas.microsoft.com/office/drawing/2014/main" id="{A6F55C15-593A-9F86-3262-47760C3E9E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326" y="1057274"/>
              <a:ext cx="4572000" cy="342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0" descr="Csv」の写真素材 | 12,525件の無料イラスト画像 | Adobe Stock">
              <a:extLst>
                <a:ext uri="{FF2B5EF4-FFF2-40B4-BE49-F238E27FC236}">
                  <a16:creationId xmlns:a16="http://schemas.microsoft.com/office/drawing/2014/main" id="{6221474E-EB2F-4264-CA5E-2A8AE6C00E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17" t="40519" r="41740" b="39908"/>
            <a:stretch>
              <a:fillRect/>
            </a:stretch>
          </p:blipFill>
          <p:spPr bwMode="auto">
            <a:xfrm>
              <a:off x="3349403" y="1514991"/>
              <a:ext cx="1698173" cy="6711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0" descr="Csv」の写真素材 | 12,525件の無料イラスト画像 | Adobe Stock">
              <a:extLst>
                <a:ext uri="{FF2B5EF4-FFF2-40B4-BE49-F238E27FC236}">
                  <a16:creationId xmlns:a16="http://schemas.microsoft.com/office/drawing/2014/main" id="{858CE556-33CC-F41A-6B15-1CA88A0226E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95" t="62513" r="37432" b="17913"/>
            <a:stretch>
              <a:fillRect/>
            </a:stretch>
          </p:blipFill>
          <p:spPr bwMode="auto">
            <a:xfrm>
              <a:off x="3232585" y="2402828"/>
              <a:ext cx="2243631" cy="7818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矢印: 右 11">
            <a:extLst>
              <a:ext uri="{FF2B5EF4-FFF2-40B4-BE49-F238E27FC236}">
                <a16:creationId xmlns:a16="http://schemas.microsoft.com/office/drawing/2014/main" id="{7FB01DDE-C89D-1B95-C84B-FEA7AC1DFD6D}"/>
              </a:ext>
            </a:extLst>
          </p:cNvPr>
          <p:cNvSpPr/>
          <p:nvPr/>
        </p:nvSpPr>
        <p:spPr>
          <a:xfrm>
            <a:off x="4206296" y="4349119"/>
            <a:ext cx="1074437" cy="796480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図 17" descr="パソコン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B75112AD-463A-A2D3-57FC-8B4AC4A6A6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 l="2907" t="10125" r="3333" b="51931"/>
          <a:stretch>
            <a:fillRect/>
          </a:stretch>
        </p:blipFill>
        <p:spPr>
          <a:xfrm>
            <a:off x="8257619" y="1725463"/>
            <a:ext cx="3495606" cy="2000815"/>
          </a:xfrm>
          <a:prstGeom prst="rect">
            <a:avLst/>
          </a:prstGeom>
          <a:ln>
            <a:noFill/>
          </a:ln>
        </p:spPr>
      </p:pic>
      <p:pic>
        <p:nvPicPr>
          <p:cNvPr id="19" name="図 18" descr="パソコン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EE4FD07F-24C9-AB01-84E2-8E2016D6C9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 l="2907" t="59921" r="3333" b="2135"/>
          <a:stretch>
            <a:fillRect/>
          </a:stretch>
        </p:blipFill>
        <p:spPr>
          <a:xfrm>
            <a:off x="8257619" y="4351217"/>
            <a:ext cx="3495606" cy="2000815"/>
          </a:xfrm>
          <a:prstGeom prst="rect">
            <a:avLst/>
          </a:prstGeom>
          <a:ln>
            <a:noFill/>
          </a:ln>
        </p:spPr>
      </p:pic>
      <p:pic>
        <p:nvPicPr>
          <p:cNvPr id="5" name="図 4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813B8FE0-96F9-52B7-C481-F1B1F76523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602" y="4237379"/>
            <a:ext cx="1019961" cy="1019961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1085EEAC-C695-81AF-DD3F-771720FA0A9F}"/>
              </a:ext>
            </a:extLst>
          </p:cNvPr>
          <p:cNvSpPr/>
          <p:nvPr/>
        </p:nvSpPr>
        <p:spPr>
          <a:xfrm rot="20359099">
            <a:off x="6562754" y="4058977"/>
            <a:ext cx="1996378" cy="796480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FA8027CD-A133-66B5-C138-7C1A72C875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7786" b="89381"/>
          <a:stretch>
            <a:fillRect/>
          </a:stretch>
        </p:blipFill>
        <p:spPr>
          <a:xfrm>
            <a:off x="3106870" y="5252580"/>
            <a:ext cx="1217888" cy="41082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5909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1E8EB-0CEE-2DB8-1712-E2C28FF1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D7E38E2E-134C-5632-2325-BCEF6B1DC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67" y="2156339"/>
            <a:ext cx="3093833" cy="177163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521D3071-E011-6A83-95E2-656D17427431}"/>
              </a:ext>
            </a:extLst>
          </p:cNvPr>
          <p:cNvGrpSpPr/>
          <p:nvPr/>
        </p:nvGrpSpPr>
        <p:grpSpPr>
          <a:xfrm>
            <a:off x="1105616" y="2156339"/>
            <a:ext cx="1647297" cy="1199627"/>
            <a:chOff x="2616326" y="1057274"/>
            <a:chExt cx="4572000" cy="3429000"/>
          </a:xfrm>
        </p:grpSpPr>
        <p:pic>
          <p:nvPicPr>
            <p:cNvPr id="5" name="Picture 20" descr="Csv」の写真素材 | 12,525件の無料イラスト画像 | Adobe Stock">
              <a:extLst>
                <a:ext uri="{FF2B5EF4-FFF2-40B4-BE49-F238E27FC236}">
                  <a16:creationId xmlns:a16="http://schemas.microsoft.com/office/drawing/2014/main" id="{BC4F11E1-B71B-419C-5AAD-0AA09D61A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326" y="1057274"/>
              <a:ext cx="4572000" cy="342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0" descr="Csv」の写真素材 | 12,525件の無料イラスト画像 | Adobe Stock">
              <a:extLst>
                <a:ext uri="{FF2B5EF4-FFF2-40B4-BE49-F238E27FC236}">
                  <a16:creationId xmlns:a16="http://schemas.microsoft.com/office/drawing/2014/main" id="{673B6D19-9C29-B670-BB76-16266A8CD4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17" t="40519" r="41740" b="39908"/>
            <a:stretch>
              <a:fillRect/>
            </a:stretch>
          </p:blipFill>
          <p:spPr bwMode="auto">
            <a:xfrm>
              <a:off x="3349403" y="1514991"/>
              <a:ext cx="1698173" cy="6711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0" descr="Csv」の写真素材 | 12,525件の無料イラスト画像 | Adobe Stock">
              <a:extLst>
                <a:ext uri="{FF2B5EF4-FFF2-40B4-BE49-F238E27FC236}">
                  <a16:creationId xmlns:a16="http://schemas.microsoft.com/office/drawing/2014/main" id="{EC8FED8F-F781-0844-FE23-F3F3D5B36D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95" t="62513" r="37432" b="17913"/>
            <a:stretch>
              <a:fillRect/>
            </a:stretch>
          </p:blipFill>
          <p:spPr bwMode="auto">
            <a:xfrm>
              <a:off x="3232585" y="2402828"/>
              <a:ext cx="2243631" cy="7818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図 7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F9C50D71-2A77-0800-00E6-F042A910FD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7786" b="89381"/>
          <a:stretch>
            <a:fillRect/>
          </a:stretch>
        </p:blipFill>
        <p:spPr>
          <a:xfrm>
            <a:off x="1320320" y="1760882"/>
            <a:ext cx="1217888" cy="410821"/>
          </a:xfrm>
          <a:prstGeom prst="rect">
            <a:avLst/>
          </a:prstGeom>
          <a:ln>
            <a:noFill/>
          </a:ln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0660C14E-F310-5896-B4D2-F66C72708DB5}"/>
              </a:ext>
            </a:extLst>
          </p:cNvPr>
          <p:cNvSpPr/>
          <p:nvPr/>
        </p:nvSpPr>
        <p:spPr>
          <a:xfrm>
            <a:off x="2699443" y="2524653"/>
            <a:ext cx="1791477" cy="552091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899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9C27C-D275-4752-2D9E-E0208890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矢印: 右 3">
            <a:extLst>
              <a:ext uri="{FF2B5EF4-FFF2-40B4-BE49-F238E27FC236}">
                <a16:creationId xmlns:a16="http://schemas.microsoft.com/office/drawing/2014/main" id="{FF9633EC-2A7E-02F2-4998-7E8CB65AEF8F}"/>
              </a:ext>
            </a:extLst>
          </p:cNvPr>
          <p:cNvSpPr/>
          <p:nvPr/>
        </p:nvSpPr>
        <p:spPr>
          <a:xfrm rot="5400000">
            <a:off x="5006871" y="2754200"/>
            <a:ext cx="1321867" cy="669035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3E5396B5-CE25-B7F6-6B72-DC04E329AE85}"/>
              </a:ext>
            </a:extLst>
          </p:cNvPr>
          <p:cNvGrpSpPr/>
          <p:nvPr/>
        </p:nvGrpSpPr>
        <p:grpSpPr>
          <a:xfrm>
            <a:off x="4827889" y="1152353"/>
            <a:ext cx="1647297" cy="1199627"/>
            <a:chOff x="2616326" y="1057274"/>
            <a:chExt cx="4572000" cy="3429000"/>
          </a:xfrm>
        </p:grpSpPr>
        <p:pic>
          <p:nvPicPr>
            <p:cNvPr id="6" name="Picture 20" descr="Csv」の写真素材 | 12,525件の無料イラスト画像 | Adobe Stock">
              <a:extLst>
                <a:ext uri="{FF2B5EF4-FFF2-40B4-BE49-F238E27FC236}">
                  <a16:creationId xmlns:a16="http://schemas.microsoft.com/office/drawing/2014/main" id="{2CA65987-5639-45A1-181D-D625F3BF46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326" y="1057274"/>
              <a:ext cx="4572000" cy="342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0" descr="Csv」の写真素材 | 12,525件の無料イラスト画像 | Adobe Stock">
              <a:extLst>
                <a:ext uri="{FF2B5EF4-FFF2-40B4-BE49-F238E27FC236}">
                  <a16:creationId xmlns:a16="http://schemas.microsoft.com/office/drawing/2014/main" id="{B8D4F11A-1FDA-4EB2-CB81-BDB75C0FA5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17" t="40519" r="41740" b="39908"/>
            <a:stretch>
              <a:fillRect/>
            </a:stretch>
          </p:blipFill>
          <p:spPr bwMode="auto">
            <a:xfrm>
              <a:off x="3349403" y="1514991"/>
              <a:ext cx="1698173" cy="6711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0" descr="Csv」の写真素材 | 12,525件の無料イラスト画像 | Adobe Stock">
              <a:extLst>
                <a:ext uri="{FF2B5EF4-FFF2-40B4-BE49-F238E27FC236}">
                  <a16:creationId xmlns:a16="http://schemas.microsoft.com/office/drawing/2014/main" id="{AB0067B8-1F52-DD6B-1824-74566AAACD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95" t="62513" r="37432" b="17913"/>
            <a:stretch>
              <a:fillRect/>
            </a:stretch>
          </p:blipFill>
          <p:spPr bwMode="auto">
            <a:xfrm>
              <a:off x="3232585" y="2402828"/>
              <a:ext cx="2243631" cy="7818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図 8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CDD41F8-4D39-0DD1-7AE7-F52D61618F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7786" b="89381"/>
          <a:stretch>
            <a:fillRect/>
          </a:stretch>
        </p:blipFill>
        <p:spPr>
          <a:xfrm>
            <a:off x="5049928" y="783922"/>
            <a:ext cx="1217888" cy="410821"/>
          </a:xfrm>
          <a:prstGeom prst="rect">
            <a:avLst/>
          </a:prstGeom>
          <a:ln>
            <a:noFill/>
          </a:ln>
        </p:spPr>
      </p:pic>
      <p:pic>
        <p:nvPicPr>
          <p:cNvPr id="10" name="図 9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211A208-7F6C-E98A-A742-2E63A71C7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80" t="50843" r="14723" b="31181"/>
          <a:stretch>
            <a:fillRect/>
          </a:stretch>
        </p:blipFill>
        <p:spPr>
          <a:xfrm>
            <a:off x="1770552" y="4695466"/>
            <a:ext cx="1432099" cy="1708891"/>
          </a:xfrm>
          <a:prstGeom prst="rect">
            <a:avLst/>
          </a:prstGeom>
        </p:spPr>
      </p:pic>
      <p:pic>
        <p:nvPicPr>
          <p:cNvPr id="11" name="図 10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788ED6A-02E9-9FB7-0007-9EB9B6F96C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80" t="50843" r="14723" b="31181"/>
          <a:stretch>
            <a:fillRect/>
          </a:stretch>
        </p:blipFill>
        <p:spPr>
          <a:xfrm>
            <a:off x="4987822" y="4695466"/>
            <a:ext cx="1432099" cy="1708891"/>
          </a:xfrm>
          <a:prstGeom prst="rect">
            <a:avLst/>
          </a:prstGeom>
        </p:spPr>
      </p:pic>
      <p:pic>
        <p:nvPicPr>
          <p:cNvPr id="12" name="図 11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E6D92D6-8578-17CC-AFCD-7E566905D0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80" t="50843" r="14723" b="31181"/>
          <a:stretch>
            <a:fillRect/>
          </a:stretch>
        </p:blipFill>
        <p:spPr>
          <a:xfrm>
            <a:off x="8205092" y="4645167"/>
            <a:ext cx="1432099" cy="1708891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AAB3DDA-24AB-F5DF-4E37-CA33C6A45B8E}"/>
              </a:ext>
            </a:extLst>
          </p:cNvPr>
          <p:cNvSpPr txBox="1"/>
          <p:nvPr/>
        </p:nvSpPr>
        <p:spPr>
          <a:xfrm>
            <a:off x="1586354" y="4275835"/>
            <a:ext cx="1800493" cy="36933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 dirty="0"/>
              <a:t>購入媒体データ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0B060DD-CF6D-1232-F108-C72BD0E67BED}"/>
              </a:ext>
            </a:extLst>
          </p:cNvPr>
          <p:cNvSpPr txBox="1"/>
          <p:nvPr/>
        </p:nvSpPr>
        <p:spPr>
          <a:xfrm>
            <a:off x="4803625" y="4275835"/>
            <a:ext cx="1800494" cy="36933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 dirty="0"/>
              <a:t>売却媒体データ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912E47C-AFC6-1FEB-C7BF-8EE2EB926784}"/>
              </a:ext>
            </a:extLst>
          </p:cNvPr>
          <p:cNvSpPr txBox="1"/>
          <p:nvPr/>
        </p:nvSpPr>
        <p:spPr>
          <a:xfrm>
            <a:off x="8020895" y="4275835"/>
            <a:ext cx="1800493" cy="36933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 dirty="0"/>
              <a:t>総合集計データ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FB60BFBF-9041-7D1E-0092-1F2D8126E01E}"/>
              </a:ext>
            </a:extLst>
          </p:cNvPr>
          <p:cNvSpPr/>
          <p:nvPr/>
        </p:nvSpPr>
        <p:spPr>
          <a:xfrm rot="7725935">
            <a:off x="3997691" y="2619657"/>
            <a:ext cx="1321867" cy="669035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1A483D79-DA71-1993-27AD-75DC005CEDF8}"/>
              </a:ext>
            </a:extLst>
          </p:cNvPr>
          <p:cNvSpPr/>
          <p:nvPr/>
        </p:nvSpPr>
        <p:spPr>
          <a:xfrm rot="3262560">
            <a:off x="6033829" y="2612363"/>
            <a:ext cx="1321867" cy="669035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90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B86E-4649-EA24-B019-ABF139C85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77F5AA04-E009-05BB-7703-C29283AC5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689" y="1146592"/>
            <a:ext cx="4150237" cy="3700931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CEF73B6-0EF2-EFD9-8741-0F8A8D246B5A}"/>
              </a:ext>
            </a:extLst>
          </p:cNvPr>
          <p:cNvSpPr/>
          <p:nvPr/>
        </p:nvSpPr>
        <p:spPr>
          <a:xfrm>
            <a:off x="1283516" y="4676862"/>
            <a:ext cx="2160165" cy="1706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C0383D84-45A3-B44A-43AD-56EE158A0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 l="3807" t="18207" r="2808" b="24558"/>
          <a:stretch>
            <a:fillRect/>
          </a:stretch>
        </p:blipFill>
        <p:spPr>
          <a:xfrm>
            <a:off x="1157681" y="1820412"/>
            <a:ext cx="3875714" cy="2118220"/>
          </a:xfrm>
          <a:prstGeom prst="rect">
            <a:avLst/>
          </a:prstGeom>
        </p:spPr>
      </p:pic>
      <p:pic>
        <p:nvPicPr>
          <p:cNvPr id="8" name="図 7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E1F23CE0-2045-1DA9-3075-215D70FA5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 l="33217" t="97090" r="47075" b="983"/>
          <a:stretch>
            <a:fillRect/>
          </a:stretch>
        </p:blipFill>
        <p:spPr>
          <a:xfrm>
            <a:off x="2378279" y="4739780"/>
            <a:ext cx="817927" cy="71306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48974A9E-A050-FA0E-381A-04C198D1EFE8}"/>
              </a:ext>
            </a:extLst>
          </p:cNvPr>
          <p:cNvSpPr/>
          <p:nvPr/>
        </p:nvSpPr>
        <p:spPr>
          <a:xfrm flipH="1">
            <a:off x="3595427" y="4499387"/>
            <a:ext cx="2104891" cy="552091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073B67-C50B-5A40-5411-942CDF2F4962}"/>
              </a:ext>
            </a:extLst>
          </p:cNvPr>
          <p:cNvSpPr txBox="1"/>
          <p:nvPr/>
        </p:nvSpPr>
        <p:spPr>
          <a:xfrm>
            <a:off x="5852064" y="4590766"/>
            <a:ext cx="4570482" cy="36933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 dirty="0"/>
              <a:t>全体、課別、営業全員のシートが自動作成</a:t>
            </a:r>
          </a:p>
        </p:txBody>
      </p:sp>
    </p:spTree>
    <p:extLst>
      <p:ext uri="{BB962C8B-B14F-4D97-AF65-F5344CB8AC3E}">
        <p14:creationId xmlns:p14="http://schemas.microsoft.com/office/powerpoint/2010/main" val="1354712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CBC3-E0C2-C7DF-3328-A39011F2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48393F6-DB46-824A-5450-AA3C0A137B27}"/>
              </a:ext>
            </a:extLst>
          </p:cNvPr>
          <p:cNvSpPr/>
          <p:nvPr/>
        </p:nvSpPr>
        <p:spPr>
          <a:xfrm>
            <a:off x="2554014" y="1914197"/>
            <a:ext cx="3048000" cy="1392883"/>
          </a:xfrm>
          <a:prstGeom prst="round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algn="ctr"/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</a:rPr>
              <a:t>SUUMO</a:t>
            </a:r>
            <a:r>
              <a:rPr kumimoji="1" lang="ja-JP" altLang="en-US" dirty="0">
                <a:solidFill>
                  <a:sysClr val="windowText" lastClr="000000"/>
                </a:solidFill>
              </a:rPr>
              <a:t>ネット　コマ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ja-JP" dirty="0">
                <a:solidFill>
                  <a:sysClr val="windowText" lastClr="000000"/>
                </a:solidFill>
              </a:rPr>
              <a:t>SUUMO</a:t>
            </a:r>
            <a:r>
              <a:rPr lang="ja-JP" altLang="en-US" dirty="0">
                <a:solidFill>
                  <a:sysClr val="windowText" lastClr="000000"/>
                </a:solidFill>
              </a:rPr>
              <a:t>電話　コマ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FB4308F-FA48-57B3-1C8A-794019FC3A17}"/>
              </a:ext>
            </a:extLst>
          </p:cNvPr>
          <p:cNvSpPr txBox="1"/>
          <p:nvPr/>
        </p:nvSpPr>
        <p:spPr>
          <a:xfrm>
            <a:off x="3302802" y="2000675"/>
            <a:ext cx="1550424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/>
              <a:t>SUUMO</a:t>
            </a:r>
            <a:r>
              <a:rPr kumimoji="1" lang="ja-JP" altLang="en-US" b="1" dirty="0"/>
              <a:t>コマ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64B746F-0F03-F751-F132-E9B028C6D2C0}"/>
              </a:ext>
            </a:extLst>
          </p:cNvPr>
          <p:cNvSpPr/>
          <p:nvPr/>
        </p:nvSpPr>
        <p:spPr>
          <a:xfrm>
            <a:off x="6096000" y="1914197"/>
            <a:ext cx="3048000" cy="1392883"/>
          </a:xfrm>
          <a:prstGeom prst="round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algn="ctr"/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自社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HP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自社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HP</a:t>
            </a:r>
            <a:r>
              <a:rPr kumimoji="1" lang="ja-JP" altLang="en-US" dirty="0">
                <a:solidFill>
                  <a:sysClr val="windowText" lastClr="000000"/>
                </a:solidFill>
              </a:rPr>
              <a:t>　ネット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dirty="0">
                <a:solidFill>
                  <a:sysClr val="windowText" lastClr="000000"/>
                </a:solidFill>
              </a:rPr>
              <a:t>自社</a:t>
            </a:r>
            <a:r>
              <a:rPr lang="en-US" altLang="ja-JP" dirty="0">
                <a:solidFill>
                  <a:sysClr val="windowText" lastClr="000000"/>
                </a:solidFill>
              </a:rPr>
              <a:t>HP</a:t>
            </a:r>
            <a:r>
              <a:rPr lang="ja-JP" altLang="en-US" dirty="0">
                <a:solidFill>
                  <a:sysClr val="windowText" lastClr="000000"/>
                </a:solidFill>
              </a:rPr>
              <a:t>電話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F4B55DF-6C3D-5796-F274-70178AC3D636}"/>
              </a:ext>
            </a:extLst>
          </p:cNvPr>
          <p:cNvSpPr txBox="1"/>
          <p:nvPr/>
        </p:nvSpPr>
        <p:spPr>
          <a:xfrm>
            <a:off x="6549837" y="2000675"/>
            <a:ext cx="214033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b="1" dirty="0"/>
              <a:t>HP</a:t>
            </a:r>
            <a:r>
              <a:rPr lang="ja-JP" altLang="en-US" b="1" dirty="0"/>
              <a:t>物件問い合わせ</a:t>
            </a:r>
            <a:endParaRPr kumimoji="1" lang="ja-JP" altLang="en-US" b="1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4FAE850-1D81-7FC5-82D5-6466021AEC76}"/>
              </a:ext>
            </a:extLst>
          </p:cNvPr>
          <p:cNvSpPr/>
          <p:nvPr/>
        </p:nvSpPr>
        <p:spPr>
          <a:xfrm>
            <a:off x="2554014" y="3619500"/>
            <a:ext cx="3048000" cy="1392883"/>
          </a:xfrm>
          <a:prstGeom prst="round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algn="ctr"/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</a:rPr>
              <a:t>SUUMO</a:t>
            </a:r>
            <a:r>
              <a:rPr kumimoji="1" lang="ja-JP" altLang="en-US" dirty="0">
                <a:solidFill>
                  <a:sysClr val="windowText" lastClr="000000"/>
                </a:solidFill>
              </a:rPr>
              <a:t>ネット　レポート</a:t>
            </a:r>
            <a:r>
              <a:rPr lang="en-US" altLang="ja-JP" dirty="0">
                <a:solidFill>
                  <a:sysClr val="windowText" lastClr="000000"/>
                </a:solidFill>
              </a:rPr>
              <a:t>SUUMO</a:t>
            </a:r>
            <a:r>
              <a:rPr lang="ja-JP" altLang="en-US" dirty="0">
                <a:solidFill>
                  <a:sysClr val="windowText" lastClr="000000"/>
                </a:solidFill>
              </a:rPr>
              <a:t>電話　レポート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92F55A0-CA28-30E3-3178-1BCF97F6A6E5}"/>
              </a:ext>
            </a:extLst>
          </p:cNvPr>
          <p:cNvSpPr txBox="1"/>
          <p:nvPr/>
        </p:nvSpPr>
        <p:spPr>
          <a:xfrm>
            <a:off x="3071969" y="3705978"/>
            <a:ext cx="201209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/>
              <a:t>SUUMO</a:t>
            </a:r>
            <a:r>
              <a:rPr kumimoji="1" lang="ja-JP" altLang="en-US" b="1" dirty="0"/>
              <a:t>レポート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976D7FB-9843-B8D4-9381-6FC81E6C04CB}"/>
              </a:ext>
            </a:extLst>
          </p:cNvPr>
          <p:cNvSpPr/>
          <p:nvPr/>
        </p:nvSpPr>
        <p:spPr>
          <a:xfrm>
            <a:off x="6096000" y="3619500"/>
            <a:ext cx="3048000" cy="1392883"/>
          </a:xfrm>
          <a:prstGeom prst="round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algn="ctr"/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ホームズ　カウンター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dirty="0">
                <a:solidFill>
                  <a:sysClr val="windowText" lastClr="000000"/>
                </a:solidFill>
              </a:rPr>
              <a:t>ホームズ　ネット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dirty="0">
                <a:solidFill>
                  <a:sysClr val="windowText" lastClr="000000"/>
                </a:solidFill>
              </a:rPr>
              <a:t>ホームズ　電話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ECBA003-3CB8-EC6F-2367-384A596CB4A8}"/>
              </a:ext>
            </a:extLst>
          </p:cNvPr>
          <p:cNvSpPr txBox="1"/>
          <p:nvPr/>
        </p:nvSpPr>
        <p:spPr>
          <a:xfrm>
            <a:off x="7089247" y="3705978"/>
            <a:ext cx="1061509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/>
              <a:t>HOMES</a:t>
            </a:r>
            <a:endParaRPr kumimoji="1" lang="ja-JP" altLang="en-US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E553174-FE3F-802B-D5E0-69FAA4A8CF9A}"/>
              </a:ext>
            </a:extLst>
          </p:cNvPr>
          <p:cNvSpPr txBox="1"/>
          <p:nvPr/>
        </p:nvSpPr>
        <p:spPr>
          <a:xfrm>
            <a:off x="3580278" y="1063602"/>
            <a:ext cx="4570482" cy="36933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b="1" dirty="0"/>
              <a:t>見やすいデータ作成の為にグループを設定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3930954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13CD-B8CF-3C71-D18E-B343F7076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パソコン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17B0798B-1330-AB9E-D73E-56195542A5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619"/>
          <a:stretch>
            <a:fillRect/>
          </a:stretch>
        </p:blipFill>
        <p:spPr>
          <a:xfrm>
            <a:off x="2739397" y="792450"/>
            <a:ext cx="6350550" cy="44353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図 2" descr="パソコン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38F74CCD-3E76-62D6-65B2-57B2DE2FB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 l="2907" t="10125" r="3333" b="51931"/>
          <a:stretch>
            <a:fillRect/>
          </a:stretch>
        </p:blipFill>
        <p:spPr>
          <a:xfrm>
            <a:off x="2915360" y="1700210"/>
            <a:ext cx="5954278" cy="3408110"/>
          </a:xfrm>
          <a:prstGeom prst="rect">
            <a:avLst/>
          </a:prstGeom>
          <a:ln>
            <a:noFill/>
          </a:ln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44E4CAF-7654-48F1-4C33-297C5E77376A}"/>
              </a:ext>
            </a:extLst>
          </p:cNvPr>
          <p:cNvSpPr txBox="1"/>
          <p:nvPr/>
        </p:nvSpPr>
        <p:spPr>
          <a:xfrm>
            <a:off x="2626229" y="303619"/>
            <a:ext cx="6532559" cy="369332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 dirty="0"/>
              <a:t>通電率や契約率などの高い</a:t>
            </a:r>
            <a:r>
              <a:rPr kumimoji="1" lang="en-US" altLang="ja-JP" b="1" dirty="0"/>
              <a:t>/</a:t>
            </a:r>
            <a:r>
              <a:rPr kumimoji="1" lang="ja-JP" altLang="en-US" b="1" dirty="0"/>
              <a:t>低い媒体がひと目で分かる色分け</a:t>
            </a:r>
          </a:p>
        </p:txBody>
      </p:sp>
    </p:spTree>
    <p:extLst>
      <p:ext uri="{BB962C8B-B14F-4D97-AF65-F5344CB8AC3E}">
        <p14:creationId xmlns:p14="http://schemas.microsoft.com/office/powerpoint/2010/main" val="99643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C7840-4AAD-73EA-FC05-6DE1953C2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438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6721</TotalTime>
  <Words>78</Words>
  <Application>Microsoft Office PowerPoint</Application>
  <PresentationFormat>ワイド画面</PresentationFormat>
  <Paragraphs>27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東宝ハウスNEXT 石井 秀龍</dc:creator>
  <cp:lastModifiedBy>東宝ハウスNEXT 石井 秀龍</cp:lastModifiedBy>
  <cp:revision>8</cp:revision>
  <dcterms:created xsi:type="dcterms:W3CDTF">2026-01-08T08:33:31Z</dcterms:created>
  <dcterms:modified xsi:type="dcterms:W3CDTF">2026-02-06T05:54:22Z</dcterms:modified>
</cp:coreProperties>
</file>