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2" r:id="rId3"/>
    <p:sldId id="273" r:id="rId4"/>
    <p:sldId id="265" r:id="rId5"/>
    <p:sldId id="266" r:id="rId6"/>
    <p:sldId id="274" r:id="rId7"/>
    <p:sldId id="267" r:id="rId8"/>
    <p:sldId id="268" r:id="rId9"/>
    <p:sldId id="269" r:id="rId10"/>
    <p:sldId id="270" r:id="rId11"/>
    <p:sldId id="271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235A4E-79D1-EFFD-CFA5-A7F112891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2E098B1-70E7-4EC5-144D-FFB94A74CD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91A31C-E8A0-025F-E080-9F379E371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5BA1A-E812-1F44-6909-EBBD80EE0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A4A80C-903D-B729-690C-FCCB0FB23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489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D957CB-EA8D-83A3-A584-C4FEADFEB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A21606-43B6-ABB3-E2BF-075A6F5EB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391D18-6741-154D-ACA7-58B4BDC8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D96A56-D989-320E-1034-A6DC069FB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648FE3-D84E-B7EC-EEAC-E6596432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030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5AF930-F779-7654-C55E-DA28610D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963DAE-3280-92E3-438D-4B5408219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9D73F9-38D4-8B2F-9AFE-9698C3DFE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D98295-49F2-79BA-419F-EC201FA9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03C432-AC48-7112-26FC-A1CCC7561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36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33E384-5F04-1B07-A1C6-C8B550DF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26E2A5-A6C7-0CAD-6B07-89198B2FA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DB0FEE5-13F0-C279-63FB-4A18436F6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50A393-3F6A-4EEC-4E9B-A5A98C30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B80E0BC-2F26-70DB-67F1-C91A04E14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AD7704-4DE5-CA2A-7791-5388424BF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137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9227B9-859E-AE75-CABA-6B1D0F14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93A51A-1591-1EEE-9583-B90C6F35C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BF3E9E-D051-9317-8077-786614747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BE5FDC8-1E89-9A1D-463A-73B00F8496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B856B6C-6275-61EB-69A6-FE04FD7CE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569816-9694-3229-5591-3682B6C9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493CCDD-4CE0-6B9E-510F-BF049169D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042E15-AFC1-D108-7FA8-64D12FA1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657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BAB012-2A52-5691-F879-443704CA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EF8C168-305A-D215-6E8A-3DF45F4D9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5D6B057-5510-A486-FEE9-7A84E462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9E5724-A74B-87C9-B1AE-A4C07664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3223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5FE89FE-FABC-C71F-14DF-70F7E497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BE45380-9086-BF01-DB07-68632AC04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C12502-3FCD-DDC4-0884-2C20B037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2953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00EED2-BD56-7223-99C8-9A07232BB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992F37C-9968-1DB6-3A33-D7F52E2E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64D538D-579F-E5C1-63B7-A45E2FDE3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AA74EE-D5D3-0BE2-ABC7-0F2241525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37DA31-9F5D-3D45-305C-3F6B399F5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8BD39C-3C6D-611D-E963-9703C443C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036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4B21E9-D36A-8B4C-B31F-2B3A216A8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CFBFE67-147A-AC39-5E81-28C1893E8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282BCA-6DB6-6C07-E046-8786EE459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5DA908-BDD1-54F2-4996-AD845384F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67D7E54-E883-CC3B-5462-E3942BB2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03592BE-5F49-6E6A-EC75-BB88362D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7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A8AB00-50B3-C61A-3CDC-02F59BE2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281968-8625-2AF0-F642-46FB909B1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761D7-9181-27A6-CAA7-FB7CE3AA6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DADED3F-5047-874E-B39E-7C2EB5E2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1A120D-7D8E-25D4-DBF1-7C738B73C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1968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9AA8C23-5898-3612-6804-F70CDE9D1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FAD9B8-7E53-04B1-6E98-2C6731421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CFFB44-1996-43CB-1456-703F7F3B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EFC9-8389-4AB9-928D-33999C1E90F2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6B2AFB-E590-49A1-33A1-FF50A9171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3B5350-92AC-E59A-1269-B1A02EA0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9226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DC2683-920F-F699-82C2-76BA5A123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B886B8C-2AA8-2403-A6BC-4113CA7E3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020BC70-FE75-3A57-F21A-22F9C7B69C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CEFC9-8389-4AB9-928D-33999C1E90F2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7C8E13-74A2-8829-4885-94E15124E9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B83D88-D3AC-733F-E855-9E2E404C1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751DD-2FFB-4491-B1D4-DEB5F883C71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797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C5075-740B-33B0-8643-203FFACCE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議事録イメージイラスト - No: 24590738｜無料イラスト・フリー素材なら「イラストAC」">
            <a:extLst>
              <a:ext uri="{FF2B5EF4-FFF2-40B4-BE49-F238E27FC236}">
                <a16:creationId xmlns:a16="http://schemas.microsoft.com/office/drawing/2014/main" id="{79CDE024-B170-2A3B-63A5-2EE7B9135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633" y="2621970"/>
            <a:ext cx="1396877" cy="1604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2607788-63A7-A3B3-3EC6-96F2F99630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056" y="2384889"/>
            <a:ext cx="1438712" cy="1438712"/>
          </a:xfrm>
          <a:prstGeom prst="rect">
            <a:avLst/>
          </a:prstGeom>
        </p:spPr>
      </p:pic>
      <p:pic>
        <p:nvPicPr>
          <p:cNvPr id="1028" name="Picture 4" descr="Slack と統合する | Jira Service Management Cloud | アトラシアン サポート">
            <a:extLst>
              <a:ext uri="{FF2B5EF4-FFF2-40B4-BE49-F238E27FC236}">
                <a16:creationId xmlns:a16="http://schemas.microsoft.com/office/drawing/2014/main" id="{8EFA9CE8-69AE-6E24-45BD-9047CC62E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1712" y="1911006"/>
            <a:ext cx="1684917" cy="947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矢印: 右 16">
            <a:extLst>
              <a:ext uri="{FF2B5EF4-FFF2-40B4-BE49-F238E27FC236}">
                <a16:creationId xmlns:a16="http://schemas.microsoft.com/office/drawing/2014/main" id="{6E9C864A-EEC8-4900-476F-50DD95FF8656}"/>
              </a:ext>
            </a:extLst>
          </p:cNvPr>
          <p:cNvSpPr/>
          <p:nvPr/>
        </p:nvSpPr>
        <p:spPr>
          <a:xfrm>
            <a:off x="4131525" y="2858772"/>
            <a:ext cx="1074437" cy="609635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5909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AFD07-EC28-D36D-3C48-511F7AB14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テキスト, 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ED08B9DA-C835-A0DF-3FE4-59A2DE6FC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599" y="2715955"/>
            <a:ext cx="2538687" cy="14260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FF39C94-E842-D76C-4923-FB0449EFA8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783" y="4765318"/>
            <a:ext cx="673294" cy="673294"/>
          </a:xfrm>
          <a:prstGeom prst="rect">
            <a:avLst/>
          </a:prstGeom>
        </p:spPr>
      </p:pic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703203D7-23D9-83E7-5AF2-B7A29EAF5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8685" y="2715955"/>
            <a:ext cx="2544835" cy="14260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31F2B85-6167-4A8C-F069-35EBF0174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6919" y="2707906"/>
            <a:ext cx="2544835" cy="14341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B844B81F-5638-E8A2-44E5-77D47CE42750}"/>
              </a:ext>
            </a:extLst>
          </p:cNvPr>
          <p:cNvSpPr/>
          <p:nvPr/>
        </p:nvSpPr>
        <p:spPr>
          <a:xfrm>
            <a:off x="3489767" y="3211660"/>
            <a:ext cx="1074437" cy="609635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655F159F-9C82-A701-EEB0-2D6E07381AF9}"/>
              </a:ext>
            </a:extLst>
          </p:cNvPr>
          <p:cNvSpPr/>
          <p:nvPr/>
        </p:nvSpPr>
        <p:spPr>
          <a:xfrm>
            <a:off x="6983111" y="3210643"/>
            <a:ext cx="1074437" cy="609635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6762A36-2B66-6C63-05E4-AEFF13861670}"/>
              </a:ext>
            </a:extLst>
          </p:cNvPr>
          <p:cNvSpPr txBox="1"/>
          <p:nvPr/>
        </p:nvSpPr>
        <p:spPr>
          <a:xfrm>
            <a:off x="3581277" y="4792281"/>
            <a:ext cx="4339650" cy="646331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/>
              <a:t>録音から議事録作成まででユーザーは</a:t>
            </a:r>
            <a:endParaRPr lang="en-US" altLang="ja-JP" b="1" dirty="0"/>
          </a:p>
          <a:p>
            <a:pPr algn="ctr"/>
            <a:r>
              <a:rPr lang="ja-JP" altLang="en-US" b="1" dirty="0"/>
              <a:t>ソフトを起動して２回クリックするだけ</a:t>
            </a:r>
            <a:endParaRPr kumimoji="1" lang="ja-JP" altLang="en-US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D596E5A-D749-57CA-6526-B7B065013764}"/>
              </a:ext>
            </a:extLst>
          </p:cNvPr>
          <p:cNvSpPr txBox="1"/>
          <p:nvPr/>
        </p:nvSpPr>
        <p:spPr>
          <a:xfrm>
            <a:off x="3610096" y="3947668"/>
            <a:ext cx="800219" cy="27699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/>
              <a:t>録音開始</a:t>
            </a:r>
            <a:endParaRPr kumimoji="1"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DE029A4-DBC8-FA40-1DB0-2E4617D26B8B}"/>
              </a:ext>
            </a:extLst>
          </p:cNvPr>
          <p:cNvSpPr txBox="1"/>
          <p:nvPr/>
        </p:nvSpPr>
        <p:spPr>
          <a:xfrm>
            <a:off x="7120219" y="3947668"/>
            <a:ext cx="800219" cy="27699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/>
              <a:t>録音終了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48222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53D4-69FE-7E0E-2338-E6C9E866A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議事録イメージイラスト - No: 24590738｜無料イラスト・フリー素材なら「イラストAC」">
            <a:extLst>
              <a:ext uri="{FF2B5EF4-FFF2-40B4-BE49-F238E27FC236}">
                <a16:creationId xmlns:a16="http://schemas.microsoft.com/office/drawing/2014/main" id="{7C1791D8-B68D-DFD5-4273-467088BEE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822" y="281222"/>
            <a:ext cx="1396877" cy="1604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228E6FA-0172-C766-F454-8BDAF3CC7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063" y="2871151"/>
            <a:ext cx="2544835" cy="14260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5861D24-7032-8B69-CBE2-218FE7116D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903" y="2871151"/>
            <a:ext cx="2544835" cy="14341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8" name="Picture 4" descr="Slack と統合する | Jira Service Management Cloud | アトラシアン サポート">
            <a:extLst>
              <a:ext uri="{FF2B5EF4-FFF2-40B4-BE49-F238E27FC236}">
                <a16:creationId xmlns:a16="http://schemas.microsoft.com/office/drawing/2014/main" id="{5F27DB34-9599-E117-B101-D0458D2E1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638" y="5220469"/>
            <a:ext cx="1684917" cy="947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矢印: 右 10">
            <a:extLst>
              <a:ext uri="{FF2B5EF4-FFF2-40B4-BE49-F238E27FC236}">
                <a16:creationId xmlns:a16="http://schemas.microsoft.com/office/drawing/2014/main" id="{BFD6ADB3-2B3C-C132-1E04-83D59DCDE209}"/>
              </a:ext>
            </a:extLst>
          </p:cNvPr>
          <p:cNvSpPr/>
          <p:nvPr/>
        </p:nvSpPr>
        <p:spPr>
          <a:xfrm>
            <a:off x="3799489" y="3365839"/>
            <a:ext cx="1678522" cy="609635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AE2CA2F-BAA2-8ABE-4BC5-BB917366CE76}"/>
              </a:ext>
            </a:extLst>
          </p:cNvPr>
          <p:cNvSpPr txBox="1"/>
          <p:nvPr/>
        </p:nvSpPr>
        <p:spPr>
          <a:xfrm>
            <a:off x="4164130" y="3074683"/>
            <a:ext cx="800219" cy="27699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/>
              <a:t>録音終了</a:t>
            </a:r>
            <a:endParaRPr kumimoji="1" lang="ja-JP" altLang="en-US" sz="1200" dirty="0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81C26E3E-C186-2DC5-0536-F3EA37EAE7B5}"/>
              </a:ext>
            </a:extLst>
          </p:cNvPr>
          <p:cNvSpPr/>
          <p:nvPr/>
        </p:nvSpPr>
        <p:spPr>
          <a:xfrm rot="1649763">
            <a:off x="3595329" y="4705603"/>
            <a:ext cx="2732688" cy="609635"/>
          </a:xfrm>
          <a:prstGeom prst="rightArrow">
            <a:avLst>
              <a:gd name="adj1" fmla="val 50000"/>
              <a:gd name="adj2" fmla="val 79472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9F7DEC0-8F8A-906F-A088-C8905D416BC9}"/>
              </a:ext>
            </a:extLst>
          </p:cNvPr>
          <p:cNvSpPr txBox="1"/>
          <p:nvPr/>
        </p:nvSpPr>
        <p:spPr>
          <a:xfrm>
            <a:off x="3988047" y="4792468"/>
            <a:ext cx="1569660" cy="276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/>
              <a:t>録音音声を自動共有</a:t>
            </a:r>
            <a:endParaRPr lang="en-US" altLang="ja-JP" sz="1200" dirty="0"/>
          </a:p>
        </p:txBody>
      </p:sp>
      <p:pic>
        <p:nvPicPr>
          <p:cNvPr id="3076" name="Picture 4" descr="音声ファイルイラスト｜無料イラスト・フリー素材なら「イラストAC」">
            <a:extLst>
              <a:ext uri="{FF2B5EF4-FFF2-40B4-BE49-F238E27FC236}">
                <a16:creationId xmlns:a16="http://schemas.microsoft.com/office/drawing/2014/main" id="{B0CFA38F-9BF3-114C-336A-5CAE1B41B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8233" y1="22059" x2="55094" y2="43824"/>
                        <a14:foregroundMark x1="60707" y1="23235" x2="60707" y2="32353"/>
                        <a14:foregroundMark x1="62994" y1="40882" x2="59459" y2="77059"/>
                        <a14:foregroundMark x1="42204" y1="29412" x2="38254" y2="64118"/>
                        <a14:foregroundMark x1="51559" y1="46471" x2="51559" y2="7088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941" y="3898277"/>
            <a:ext cx="1047041" cy="74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5162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C27C-D275-4752-2D9E-E0208890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20 Reasons Why WAV Is Better Than MP3 - Audio Animals Ltd.">
            <a:extLst>
              <a:ext uri="{FF2B5EF4-FFF2-40B4-BE49-F238E27FC236}">
                <a16:creationId xmlns:a16="http://schemas.microsoft.com/office/drawing/2014/main" id="{B1CB9722-99B2-5998-2421-158AEB6C2D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144"/>
          <a:stretch>
            <a:fillRect/>
          </a:stretch>
        </p:blipFill>
        <p:spPr bwMode="auto">
          <a:xfrm>
            <a:off x="1873493" y="1488552"/>
            <a:ext cx="2109177" cy="3669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20 Reasons Why WAV Is Better Than MP3 - Audio Animals Ltd.">
            <a:extLst>
              <a:ext uri="{FF2B5EF4-FFF2-40B4-BE49-F238E27FC236}">
                <a16:creationId xmlns:a16="http://schemas.microsoft.com/office/drawing/2014/main" id="{AF8410BB-E37D-C46E-BBAB-635936EAD1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17" r="-120"/>
          <a:stretch>
            <a:fillRect/>
          </a:stretch>
        </p:blipFill>
        <p:spPr bwMode="auto">
          <a:xfrm>
            <a:off x="7648856" y="1442819"/>
            <a:ext cx="2206093" cy="36690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81858F-0EC1-C711-5954-3E4BD32F6AD3}"/>
              </a:ext>
            </a:extLst>
          </p:cNvPr>
          <p:cNvSpPr txBox="1"/>
          <p:nvPr/>
        </p:nvSpPr>
        <p:spPr>
          <a:xfrm>
            <a:off x="1873493" y="1247337"/>
            <a:ext cx="2031325" cy="646331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/>
              <a:t>音質は最高</a:t>
            </a:r>
            <a:endParaRPr lang="en-US" altLang="ja-JP" b="1" dirty="0"/>
          </a:p>
          <a:p>
            <a:pPr algn="ctr"/>
            <a:r>
              <a:rPr lang="ja-JP" altLang="en-US" b="1" dirty="0"/>
              <a:t>けど容量は大きい</a:t>
            </a:r>
            <a:endParaRPr kumimoji="1" lang="ja-JP" altLang="en-US" b="1" dirty="0"/>
          </a:p>
        </p:txBody>
      </p:sp>
      <p:pic>
        <p:nvPicPr>
          <p:cNvPr id="5124" name="Picture 4" descr="オープンソースのマルチメディアフレームワーク「FFmpeg 2.2」が公開 - 窓の杜">
            <a:extLst>
              <a:ext uri="{FF2B5EF4-FFF2-40B4-BE49-F238E27FC236}">
                <a16:creationId xmlns:a16="http://schemas.microsoft.com/office/drawing/2014/main" id="{BE410FC6-934F-C21F-82D9-396848595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8338" y="3206424"/>
            <a:ext cx="1832812" cy="137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矢印: 右 3">
            <a:extLst>
              <a:ext uri="{FF2B5EF4-FFF2-40B4-BE49-F238E27FC236}">
                <a16:creationId xmlns:a16="http://schemas.microsoft.com/office/drawing/2014/main" id="{B0AC7434-805D-8E70-DC65-A92FBAE5707A}"/>
              </a:ext>
            </a:extLst>
          </p:cNvPr>
          <p:cNvSpPr/>
          <p:nvPr/>
        </p:nvSpPr>
        <p:spPr>
          <a:xfrm>
            <a:off x="4449419" y="3124182"/>
            <a:ext cx="2732688" cy="609635"/>
          </a:xfrm>
          <a:prstGeom prst="rightArrow">
            <a:avLst>
              <a:gd name="adj1" fmla="val 50000"/>
              <a:gd name="adj2" fmla="val 79472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11EB15E-5BCE-371C-37E0-AD3E082AB413}"/>
              </a:ext>
            </a:extLst>
          </p:cNvPr>
          <p:cNvSpPr txBox="1"/>
          <p:nvPr/>
        </p:nvSpPr>
        <p:spPr>
          <a:xfrm>
            <a:off x="5421578" y="2754850"/>
            <a:ext cx="646331" cy="36933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/>
              <a:t>変換</a:t>
            </a:r>
            <a:endParaRPr kumimoji="1" lang="ja-JP" altLang="en-US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D6EA815-3685-3A22-A5E0-FB2E8A15FFEA}"/>
              </a:ext>
            </a:extLst>
          </p:cNvPr>
          <p:cNvSpPr txBox="1"/>
          <p:nvPr/>
        </p:nvSpPr>
        <p:spPr>
          <a:xfrm>
            <a:off x="7736239" y="1247338"/>
            <a:ext cx="2031325" cy="646331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/>
              <a:t>音質ほぼそのまま</a:t>
            </a:r>
            <a:endParaRPr lang="en-US" altLang="ja-JP" b="1" dirty="0"/>
          </a:p>
          <a:p>
            <a:pPr algn="ctr"/>
            <a:r>
              <a:rPr lang="ja-JP" altLang="en-US" b="1" dirty="0"/>
              <a:t>容量を小さく</a:t>
            </a:r>
            <a:endParaRPr kumimoji="1" lang="ja-JP" altLang="en-US" b="1" dirty="0"/>
          </a:p>
        </p:txBody>
      </p:sp>
    </p:spTree>
    <p:extLst>
      <p:ext uri="{BB962C8B-B14F-4D97-AF65-F5344CB8AC3E}">
        <p14:creationId xmlns:p14="http://schemas.microsoft.com/office/powerpoint/2010/main" val="45990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76081-8CA9-BCAA-6336-A364B879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64FB2301-F0DC-57A3-4DC8-A8CE2A4F2E38}"/>
              </a:ext>
            </a:extLst>
          </p:cNvPr>
          <p:cNvGrpSpPr/>
          <p:nvPr/>
        </p:nvGrpSpPr>
        <p:grpSpPr>
          <a:xfrm>
            <a:off x="6146800" y="2586859"/>
            <a:ext cx="2832563" cy="1927078"/>
            <a:chOff x="5025822" y="4075789"/>
            <a:chExt cx="4089008" cy="2678905"/>
          </a:xfrm>
        </p:grpSpPr>
        <p:pic>
          <p:nvPicPr>
            <p:cNvPr id="4" name="図 3" descr="デスクトップコンピューターが置かれている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77D4676B-6E0E-85A3-9D62-7B938908F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76531" y="4075789"/>
              <a:ext cx="3638299" cy="2278873"/>
            </a:xfrm>
            <a:prstGeom prst="rect">
              <a:avLst/>
            </a:prstGeom>
          </p:spPr>
        </p:pic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3393C8C-91A8-73CD-3640-0A9D2FE68E75}"/>
                </a:ext>
              </a:extLst>
            </p:cNvPr>
            <p:cNvSpPr/>
            <p:nvPr/>
          </p:nvSpPr>
          <p:spPr>
            <a:xfrm>
              <a:off x="5025822" y="6243066"/>
              <a:ext cx="772885" cy="511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6" name="Picture 2" descr="20 Reasons Why WAV Is Better Than MP3 - Audio Animals Ltd.">
            <a:extLst>
              <a:ext uri="{FF2B5EF4-FFF2-40B4-BE49-F238E27FC236}">
                <a16:creationId xmlns:a16="http://schemas.microsoft.com/office/drawing/2014/main" id="{B30DE523-327E-210E-119F-6EDABEA1A1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17" r="-120"/>
          <a:stretch>
            <a:fillRect/>
          </a:stretch>
        </p:blipFill>
        <p:spPr bwMode="auto">
          <a:xfrm>
            <a:off x="3055760" y="2174089"/>
            <a:ext cx="1393659" cy="231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5B0F09B8-86C5-5F04-1A31-FA3CD6C8A6E0}"/>
              </a:ext>
            </a:extLst>
          </p:cNvPr>
          <p:cNvSpPr/>
          <p:nvPr/>
        </p:nvSpPr>
        <p:spPr>
          <a:xfrm>
            <a:off x="4417439" y="3138575"/>
            <a:ext cx="2732688" cy="609635"/>
          </a:xfrm>
          <a:prstGeom prst="rightArrow">
            <a:avLst>
              <a:gd name="adj1" fmla="val 50000"/>
              <a:gd name="adj2" fmla="val 79472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2A4E412-C009-14B8-6C20-EA9EBFE089DA}"/>
              </a:ext>
            </a:extLst>
          </p:cNvPr>
          <p:cNvSpPr txBox="1"/>
          <p:nvPr/>
        </p:nvSpPr>
        <p:spPr>
          <a:xfrm>
            <a:off x="3640960" y="1878063"/>
            <a:ext cx="4493539" cy="46166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b="1" dirty="0"/>
              <a:t>自身のパソコン内にも自動保存</a:t>
            </a:r>
            <a:endParaRPr kumimoji="1"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1705616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D20DA-3227-916C-6BE4-E919A41C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議事録イメージイラスト - No: 24590738｜無料イラスト・フリー素材なら「イラストAC」">
            <a:extLst>
              <a:ext uri="{FF2B5EF4-FFF2-40B4-BE49-F238E27FC236}">
                <a16:creationId xmlns:a16="http://schemas.microsoft.com/office/drawing/2014/main" id="{FD3A79A5-107A-B1F2-C54B-940AFF2B3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9719" y="780368"/>
            <a:ext cx="1396877" cy="1604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 descr="テキスト, 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DAC66FEA-2154-E391-7306-0FC3303C8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9" y="2715955"/>
            <a:ext cx="2538687" cy="14260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DC8D6EA5-D873-6755-5433-413B21070D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783" y="4765318"/>
            <a:ext cx="673294" cy="673294"/>
          </a:xfrm>
          <a:prstGeom prst="rect">
            <a:avLst/>
          </a:prstGeom>
        </p:spPr>
      </p:pic>
      <p:pic>
        <p:nvPicPr>
          <p:cNvPr id="7" name="図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980748E-29AA-05ED-073C-D42E0E848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8685" y="2715955"/>
            <a:ext cx="2544835" cy="14260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図 8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A3854F2-1570-7A0F-D458-A0F4C8AF91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6919" y="2707906"/>
            <a:ext cx="2544835" cy="14341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28" name="Picture 4" descr="Slack と統合する | Jira Service Management Cloud | アトラシアン サポート">
            <a:extLst>
              <a:ext uri="{FF2B5EF4-FFF2-40B4-BE49-F238E27FC236}">
                <a16:creationId xmlns:a16="http://schemas.microsoft.com/office/drawing/2014/main" id="{F286A248-DABF-E4C7-FCD0-F4A9E015B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410" y="977507"/>
            <a:ext cx="1684917" cy="947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824471A5-7B27-2391-FCE0-9B75D8B24016}"/>
              </a:ext>
            </a:extLst>
          </p:cNvPr>
          <p:cNvSpPr/>
          <p:nvPr/>
        </p:nvSpPr>
        <p:spPr>
          <a:xfrm>
            <a:off x="3489767" y="3211660"/>
            <a:ext cx="1074437" cy="609635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右 10">
            <a:extLst>
              <a:ext uri="{FF2B5EF4-FFF2-40B4-BE49-F238E27FC236}">
                <a16:creationId xmlns:a16="http://schemas.microsoft.com/office/drawing/2014/main" id="{A23BCA5A-5DD5-FD97-F6B5-7DD75F386F08}"/>
              </a:ext>
            </a:extLst>
          </p:cNvPr>
          <p:cNvSpPr/>
          <p:nvPr/>
        </p:nvSpPr>
        <p:spPr>
          <a:xfrm>
            <a:off x="6983111" y="3210643"/>
            <a:ext cx="1074437" cy="609635"/>
          </a:xfrm>
          <a:prstGeom prst="rightArrow">
            <a:avLst>
              <a:gd name="adj1" fmla="val 50000"/>
              <a:gd name="adj2" fmla="val 79472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F657010-76D7-7727-08FD-872569C1A6B8}"/>
              </a:ext>
            </a:extLst>
          </p:cNvPr>
          <p:cNvSpPr txBox="1"/>
          <p:nvPr/>
        </p:nvSpPr>
        <p:spPr>
          <a:xfrm>
            <a:off x="3581277" y="4792281"/>
            <a:ext cx="4339650" cy="646331"/>
          </a:xfrm>
          <a:prstGeom prst="rect">
            <a:avLst/>
          </a:prstGeom>
          <a:solidFill>
            <a:srgbClr val="FFFF99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b="1" dirty="0"/>
              <a:t>録音から議事録作成まででユーザーは</a:t>
            </a:r>
            <a:endParaRPr lang="en-US" altLang="ja-JP" b="1" dirty="0"/>
          </a:p>
          <a:p>
            <a:pPr algn="ctr"/>
            <a:r>
              <a:rPr lang="ja-JP" altLang="en-US" b="1" dirty="0"/>
              <a:t>ソフトを起動して２回クリックするだけ</a:t>
            </a:r>
            <a:endParaRPr kumimoji="1" lang="ja-JP" altLang="en-US" b="1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EDFB2AA-F73C-73F5-0CDE-4882F1F90C4C}"/>
              </a:ext>
            </a:extLst>
          </p:cNvPr>
          <p:cNvSpPr txBox="1"/>
          <p:nvPr/>
        </p:nvSpPr>
        <p:spPr>
          <a:xfrm>
            <a:off x="3610096" y="3947668"/>
            <a:ext cx="800219" cy="27699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/>
              <a:t>録音開始</a:t>
            </a:r>
            <a:endParaRPr kumimoji="1"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9886821-74D5-D5D4-4DB8-0CE88F9DEF2D}"/>
              </a:ext>
            </a:extLst>
          </p:cNvPr>
          <p:cNvSpPr txBox="1"/>
          <p:nvPr/>
        </p:nvSpPr>
        <p:spPr>
          <a:xfrm>
            <a:off x="7120219" y="3947668"/>
            <a:ext cx="800219" cy="276999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/>
              <a:t>録音終了</a:t>
            </a:r>
            <a:endParaRPr kumimoji="1" lang="ja-JP" altLang="en-US" sz="1200" dirty="0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9D11B4EE-629E-A5DE-177D-3287024123E2}"/>
              </a:ext>
            </a:extLst>
          </p:cNvPr>
          <p:cNvSpPr/>
          <p:nvPr/>
        </p:nvSpPr>
        <p:spPr>
          <a:xfrm rot="20277772">
            <a:off x="6854200" y="1889270"/>
            <a:ext cx="2133453" cy="609635"/>
          </a:xfrm>
          <a:prstGeom prst="rightArrow">
            <a:avLst>
              <a:gd name="adj1" fmla="val 50000"/>
              <a:gd name="adj2" fmla="val 79472"/>
            </a:avLst>
          </a:prstGeom>
          <a:solidFill>
            <a:schemeClr val="tx2">
              <a:lumMod val="50000"/>
              <a:lumOff val="5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30D1AFB-B4A6-2AB2-0EF5-CA376CDE9838}"/>
              </a:ext>
            </a:extLst>
          </p:cNvPr>
          <p:cNvSpPr txBox="1"/>
          <p:nvPr/>
        </p:nvSpPr>
        <p:spPr>
          <a:xfrm rot="20277353">
            <a:off x="6930801" y="1639319"/>
            <a:ext cx="1261884" cy="461665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ja-JP" altLang="en-US" sz="1200" dirty="0"/>
              <a:t>自動送信</a:t>
            </a:r>
            <a:endParaRPr lang="en-US" altLang="ja-JP" sz="1200" dirty="0"/>
          </a:p>
          <a:p>
            <a:pPr algn="ctr"/>
            <a:r>
              <a:rPr kumimoji="1" lang="ja-JP" altLang="en-US" sz="1200" dirty="0"/>
              <a:t>自動議事録作成</a:t>
            </a:r>
          </a:p>
        </p:txBody>
      </p:sp>
    </p:spTree>
    <p:extLst>
      <p:ext uri="{BB962C8B-B14F-4D97-AF65-F5344CB8AC3E}">
        <p14:creationId xmlns:p14="http://schemas.microsoft.com/office/powerpoint/2010/main" val="3594072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E8EB-0CEE-2DB8-1712-E2C28FF1A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lack  AI」日本では4月から提供開始。Slackを時短できれば効果絶大』～【web3&amp;AI-テックビジネスのアイディアのタネ】2024.2.15｜モリプト  タツヤ">
            <a:extLst>
              <a:ext uri="{FF2B5EF4-FFF2-40B4-BE49-F238E27FC236}">
                <a16:creationId xmlns:a16="http://schemas.microsoft.com/office/drawing/2014/main" id="{94BD54C7-9A72-EC59-4F32-7E3F6039C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4216" y="2633629"/>
            <a:ext cx="3636433" cy="1903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議事録イメージイラスト - No: 24590738｜無料イラスト・フリー素材なら「イラストAC」">
            <a:extLst>
              <a:ext uri="{FF2B5EF4-FFF2-40B4-BE49-F238E27FC236}">
                <a16:creationId xmlns:a16="http://schemas.microsoft.com/office/drawing/2014/main" id="{25D8423D-9429-6DB7-B62A-A3B8AB11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3985" y="3015377"/>
            <a:ext cx="1396877" cy="1604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Slack と統合する | Jira Service Management Cloud | アトラシアン サポート">
            <a:extLst>
              <a:ext uri="{FF2B5EF4-FFF2-40B4-BE49-F238E27FC236}">
                <a16:creationId xmlns:a16="http://schemas.microsoft.com/office/drawing/2014/main" id="{388017BD-F1B6-A2B4-6E16-442B45FFE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511" y="193855"/>
            <a:ext cx="2085379" cy="117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860FA92-C5CE-207A-7FCF-48F6B3C5ADC3}"/>
              </a:ext>
            </a:extLst>
          </p:cNvPr>
          <p:cNvSpPr/>
          <p:nvPr/>
        </p:nvSpPr>
        <p:spPr>
          <a:xfrm>
            <a:off x="2277533" y="1176475"/>
            <a:ext cx="7289800" cy="4259126"/>
          </a:xfrm>
          <a:prstGeom prst="roundRect">
            <a:avLst/>
          </a:prstGeom>
          <a:noFill/>
          <a:ln w="762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Picture 2" descr="20 Reasons Why WAV Is Better Than MP3 - Audio Animals Ltd.">
            <a:extLst>
              <a:ext uri="{FF2B5EF4-FFF2-40B4-BE49-F238E27FC236}">
                <a16:creationId xmlns:a16="http://schemas.microsoft.com/office/drawing/2014/main" id="{F0FCE43E-AEA7-41D3-EEF8-AC0C26F4CC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17" r="-120"/>
          <a:stretch>
            <a:fillRect/>
          </a:stretch>
        </p:blipFill>
        <p:spPr bwMode="auto">
          <a:xfrm>
            <a:off x="3112058" y="2706522"/>
            <a:ext cx="1105304" cy="1838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94F025B-F81D-BBDA-377E-A341F392BA22}"/>
              </a:ext>
            </a:extLst>
          </p:cNvPr>
          <p:cNvSpPr txBox="1"/>
          <p:nvPr/>
        </p:nvSpPr>
        <p:spPr>
          <a:xfrm>
            <a:off x="5222560" y="2244857"/>
            <a:ext cx="1399743" cy="46166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2400" b="1" dirty="0"/>
              <a:t>Slack AI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2C02F82-20E0-F428-FA79-FD775D85F511}"/>
              </a:ext>
            </a:extLst>
          </p:cNvPr>
          <p:cNvSpPr txBox="1"/>
          <p:nvPr/>
        </p:nvSpPr>
        <p:spPr>
          <a:xfrm>
            <a:off x="4408859" y="3312185"/>
            <a:ext cx="697627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ja-JP" sz="4000" b="1" dirty="0"/>
              <a:t>×</a:t>
            </a:r>
            <a:endParaRPr kumimoji="1" lang="en-US" altLang="ja-JP" sz="40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3DE61A5-619A-0E39-8086-669A9DF9B9FC}"/>
              </a:ext>
            </a:extLst>
          </p:cNvPr>
          <p:cNvSpPr txBox="1"/>
          <p:nvPr/>
        </p:nvSpPr>
        <p:spPr>
          <a:xfrm>
            <a:off x="6694860" y="3312185"/>
            <a:ext cx="697628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4000" b="1" dirty="0"/>
              <a:t>＝</a:t>
            </a:r>
            <a:endParaRPr kumimoji="1" lang="en-US" altLang="ja-JP" sz="4000" b="1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AA909B8-F218-217C-D471-00DCFEFD679A}"/>
              </a:ext>
            </a:extLst>
          </p:cNvPr>
          <p:cNvSpPr txBox="1"/>
          <p:nvPr/>
        </p:nvSpPr>
        <p:spPr>
          <a:xfrm>
            <a:off x="2802935" y="2244857"/>
            <a:ext cx="1723549" cy="46166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b="1" dirty="0"/>
              <a:t>音声データ</a:t>
            </a:r>
            <a:endParaRPr kumimoji="1" lang="en-US" altLang="ja-JP" sz="24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61C4A4C-4BC8-9DD7-A8A1-8FB44F1F509C}"/>
              </a:ext>
            </a:extLst>
          </p:cNvPr>
          <p:cNvSpPr txBox="1"/>
          <p:nvPr/>
        </p:nvSpPr>
        <p:spPr>
          <a:xfrm>
            <a:off x="7665518" y="2244856"/>
            <a:ext cx="1107996" cy="46166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b="1" dirty="0"/>
              <a:t>議事録</a:t>
            </a:r>
            <a:endParaRPr kumimoji="1" lang="en-US" altLang="ja-JP" sz="2400" b="1" dirty="0"/>
          </a:p>
        </p:txBody>
      </p:sp>
    </p:spTree>
    <p:extLst>
      <p:ext uri="{BB962C8B-B14F-4D97-AF65-F5344CB8AC3E}">
        <p14:creationId xmlns:p14="http://schemas.microsoft.com/office/powerpoint/2010/main" val="409899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B86E-4649-EA24-B019-ABF139C8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712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CBC3-E0C2-C7DF-3328-A39011F27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954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13CD-B8CF-3C71-D18E-B343F7076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43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C7840-4AAD-73EA-FC05-6DE1953C2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438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6333</TotalTime>
  <Words>81</Words>
  <Application>Microsoft Office PowerPoint</Application>
  <PresentationFormat>ワイド画面</PresentationFormat>
  <Paragraphs>23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東宝ハウスNEXT 石井 秀龍</dc:creator>
  <cp:lastModifiedBy>東宝ハウスNEXT 石井 秀龍</cp:lastModifiedBy>
  <cp:revision>5</cp:revision>
  <dcterms:created xsi:type="dcterms:W3CDTF">2026-01-08T08:33:31Z</dcterms:created>
  <dcterms:modified xsi:type="dcterms:W3CDTF">2026-02-08T01:08:22Z</dcterms:modified>
</cp:coreProperties>
</file>