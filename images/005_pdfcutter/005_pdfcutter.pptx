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62" d="100"/>
          <a:sy n="62" d="100"/>
        </p:scale>
        <p:origin x="5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35A4E-79D1-EFFD-CFA5-A7F11289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098B1-70E7-4EC5-144D-FFB94A74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1A31C-E8A0-025F-E080-9F379E3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BA1A-E812-1F44-6909-EBBD80EE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4A80C-903D-B729-690C-FCCB0FB2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957CB-EA8D-83A3-A584-C4FEADF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A21606-43B6-ABB3-E2BF-075A6F5E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91D18-6741-154D-ACA7-58B4BDC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96A56-D989-320E-1034-A6DC069F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48FE3-D84E-B7EC-EEAC-E659643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0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AF930-F779-7654-C55E-DA28610D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963DAE-3280-92E3-438D-4B54082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D73F9-38D4-8B2F-9AFE-9698C3DF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98295-49F2-79BA-419F-EC201FA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3C432-AC48-7112-26FC-A1CCC756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6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3E384-5F04-1B07-A1C6-C8B550D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E2A5-A6C7-0CAD-6B07-89198B2F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0FEE5-13F0-C279-63FB-4A18436F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0A393-3F6A-4EEC-4E9B-A5A98C30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80E0BC-2F26-70DB-67F1-C91A04E1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AD7704-4DE5-CA2A-7791-5388424B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13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7B9-859E-AE75-CABA-6B1D0F14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3A51A-1591-1EEE-9583-B90C6F35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BF3E9E-D051-9317-8077-7866147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E5FDC8-1E89-9A1D-463A-73B00F84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B856B6C-6275-61EB-69A6-FE04FD7C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569816-9694-3229-5591-3682B6C9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93CCDD-4CE0-6B9E-510F-BF04916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042E15-AFC1-D108-7FA8-64D12FA1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7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AB012-2A52-5691-F879-443704C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F8C168-305A-D215-6E8A-3DF45F4D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6B057-5510-A486-FEE9-7A84E46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9E5724-A74B-87C9-B1AE-A4C0766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22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FE89FE-FABC-C71F-14DF-70F7E49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E45380-9086-BF01-DB07-68632AC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12502-3FCD-DDC4-0884-2C20B03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95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0EED2-BD56-7223-99C8-9A07232B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2F37C-9968-1DB6-3A33-D7F52E2E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D538D-579F-E5C1-63B7-A45E2FDE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74EE-D5D3-0BE2-ABC7-0F224152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37DA31-9F5D-3D45-305C-3F6B399F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D39C-3C6D-611D-E963-9703C443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B21E9-D36A-8B4C-B31F-2B3A216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FBFE67-147A-AC39-5E81-28C1893E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82BCA-6DB6-6C07-E046-8786EE45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DA908-BDD1-54F2-4996-AD845384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D7E54-E883-CC3B-5462-E3942BB2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592BE-5F49-6E6A-EC75-BB88362D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AB00-50B3-C61A-3CDC-02F59BE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81968-8625-2AF0-F642-46FB909B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761D7-9181-27A6-CAA7-FB7CE3A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DED3F-5047-874E-B39E-7C2EB5E2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A120D-7D8E-25D4-DBF1-7C738B7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9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AA8C23-5898-3612-6804-F70CDE9D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AD9B8-7E53-04B1-6E98-2C67314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FFB44-1996-43CB-1456-703F7F3B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B2AFB-E590-49A1-33A1-FF50A917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B5350-92AC-E59A-1269-B1A02EA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DC2683-920F-F699-82C2-76BA5A12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886B8C-2AA8-2403-A6BC-4113CA7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0BC70-FE75-3A57-F21A-22F9C7B69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FC9-8389-4AB9-928D-33999C1E90F2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7C8E13-74A2-8829-4885-94E15124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83D88-D3AC-733F-E855-9E2E404C1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79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5075-740B-33B0-8643-203FFACC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B17B37A-B17B-982E-BC13-DD2850905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386646" y="1044579"/>
            <a:ext cx="671689" cy="801511"/>
          </a:xfrm>
          <a:prstGeom prst="rect">
            <a:avLst/>
          </a:prstGeom>
        </p:spPr>
      </p:pic>
      <p:pic>
        <p:nvPicPr>
          <p:cNvPr id="6" name="図 5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64D28B6-EF2D-B2C3-C0E1-C154BB39D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146294" y="1531659"/>
            <a:ext cx="671689" cy="801511"/>
          </a:xfrm>
          <a:prstGeom prst="rect">
            <a:avLst/>
          </a:prstGeom>
        </p:spPr>
      </p:pic>
      <p:pic>
        <p:nvPicPr>
          <p:cNvPr id="7" name="図 6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DC68612-8AAD-F012-618B-27DAC1938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679086" y="1174609"/>
            <a:ext cx="671689" cy="801511"/>
          </a:xfrm>
          <a:prstGeom prst="rect">
            <a:avLst/>
          </a:prstGeom>
        </p:spPr>
      </p:pic>
      <p:pic>
        <p:nvPicPr>
          <p:cNvPr id="8" name="図 7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3CF7BDE-A002-CADE-B56F-4C98F960B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551762" y="1932415"/>
            <a:ext cx="671689" cy="801511"/>
          </a:xfrm>
          <a:prstGeom prst="rect">
            <a:avLst/>
          </a:prstGeom>
        </p:spPr>
      </p:pic>
      <p:pic>
        <p:nvPicPr>
          <p:cNvPr id="9" name="図 8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661483D-6AE7-33B6-0F0A-E0B8BB76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880073" y="2109016"/>
            <a:ext cx="671689" cy="801511"/>
          </a:xfrm>
          <a:prstGeom prst="rect">
            <a:avLst/>
          </a:prstGeom>
        </p:spPr>
      </p:pic>
      <p:pic>
        <p:nvPicPr>
          <p:cNvPr id="10" name="図 9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8941378-27ED-6A52-C092-50B33ABA0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081551" y="4048271"/>
            <a:ext cx="1007534" cy="120226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D276EA-3A18-111C-A4A5-4767610862D3}"/>
              </a:ext>
            </a:extLst>
          </p:cNvPr>
          <p:cNvSpPr txBox="1"/>
          <p:nvPr/>
        </p:nvSpPr>
        <p:spPr>
          <a:xfrm>
            <a:off x="452636" y="620611"/>
            <a:ext cx="2265364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整理していない</a:t>
            </a:r>
            <a:r>
              <a:rPr kumimoji="1" lang="en-US" altLang="ja-JP" b="1" dirty="0"/>
              <a:t>PDF</a:t>
            </a:r>
            <a:endParaRPr kumimoji="1" lang="ja-JP" altLang="en-US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5656B99-45B2-AFDA-EC95-E4A91DB50579}"/>
              </a:ext>
            </a:extLst>
          </p:cNvPr>
          <p:cNvSpPr txBox="1"/>
          <p:nvPr/>
        </p:nvSpPr>
        <p:spPr>
          <a:xfrm>
            <a:off x="243559" y="3647515"/>
            <a:ext cx="2957861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一つにまとまっている</a:t>
            </a:r>
            <a:r>
              <a:rPr kumimoji="1" lang="en-US" altLang="ja-JP" b="1" dirty="0"/>
              <a:t>PDF</a:t>
            </a:r>
            <a:endParaRPr kumimoji="1" lang="ja-JP" altLang="en-US" b="1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96A41041-41E5-B9F9-53C5-6A1F04AA4EBD}"/>
              </a:ext>
            </a:extLst>
          </p:cNvPr>
          <p:cNvSpPr/>
          <p:nvPr/>
        </p:nvSpPr>
        <p:spPr>
          <a:xfrm rot="852634">
            <a:off x="2455213" y="1742558"/>
            <a:ext cx="1471416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9205A2AC-22CD-5839-5BC0-6D9EF04111EA}"/>
              </a:ext>
            </a:extLst>
          </p:cNvPr>
          <p:cNvSpPr/>
          <p:nvPr/>
        </p:nvSpPr>
        <p:spPr>
          <a:xfrm rot="20759732">
            <a:off x="2475007" y="4365252"/>
            <a:ext cx="1471416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8F4F9FB-C427-767C-F350-0422C8CDA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188" y="1976119"/>
            <a:ext cx="2442197" cy="2442197"/>
          </a:xfrm>
          <a:prstGeom prst="rect">
            <a:avLst/>
          </a:prstGeom>
        </p:spPr>
      </p:pic>
      <p:sp>
        <p:nvSpPr>
          <p:cNvPr id="17" name="矢印: 右 16">
            <a:extLst>
              <a:ext uri="{FF2B5EF4-FFF2-40B4-BE49-F238E27FC236}">
                <a16:creationId xmlns:a16="http://schemas.microsoft.com/office/drawing/2014/main" id="{25E270A6-7A54-6FC7-6EC8-22BA4BDCB833}"/>
              </a:ext>
            </a:extLst>
          </p:cNvPr>
          <p:cNvSpPr/>
          <p:nvPr/>
        </p:nvSpPr>
        <p:spPr>
          <a:xfrm>
            <a:off x="6749445" y="2628622"/>
            <a:ext cx="1471416" cy="1137189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03FA663-A761-604E-CD49-B89BE5554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8405921" y="1932415"/>
            <a:ext cx="671689" cy="801511"/>
          </a:xfrm>
          <a:prstGeom prst="rect">
            <a:avLst/>
          </a:prstGeom>
        </p:spPr>
      </p:pic>
      <p:pic>
        <p:nvPicPr>
          <p:cNvPr id="19" name="図 18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CB9D911-ED2C-CEBA-DA18-B314FE112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9095042" y="1932414"/>
            <a:ext cx="671689" cy="801511"/>
          </a:xfrm>
          <a:prstGeom prst="rect">
            <a:avLst/>
          </a:prstGeom>
        </p:spPr>
      </p:pic>
      <p:pic>
        <p:nvPicPr>
          <p:cNvPr id="20" name="図 19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31F48C5-D519-4AAC-F51C-E2F88E60B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9766731" y="1932414"/>
            <a:ext cx="671689" cy="801511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9C98AA7-7F3E-082C-FD90-5F74E81992B1}"/>
              </a:ext>
            </a:extLst>
          </p:cNvPr>
          <p:cNvSpPr txBox="1"/>
          <p:nvPr/>
        </p:nvSpPr>
        <p:spPr>
          <a:xfrm>
            <a:off x="8495543" y="180597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重説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94047C5-16E5-62AF-0356-7F3BCFF48A4C}"/>
              </a:ext>
            </a:extLst>
          </p:cNvPr>
          <p:cNvSpPr txBox="1"/>
          <p:nvPr/>
        </p:nvSpPr>
        <p:spPr>
          <a:xfrm>
            <a:off x="9184664" y="180597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売契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EF92215-9EEF-F0E2-D4B2-35C88FEE24B0}"/>
              </a:ext>
            </a:extLst>
          </p:cNvPr>
          <p:cNvSpPr txBox="1"/>
          <p:nvPr/>
        </p:nvSpPr>
        <p:spPr>
          <a:xfrm>
            <a:off x="9873785" y="18059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媒介</a:t>
            </a:r>
          </a:p>
        </p:txBody>
      </p:sp>
      <p:pic>
        <p:nvPicPr>
          <p:cNvPr id="25" name="図 24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B32B477-DEFF-05D6-3CC0-736BC64FF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8405921" y="2958080"/>
            <a:ext cx="671689" cy="801511"/>
          </a:xfrm>
          <a:prstGeom prst="rect">
            <a:avLst/>
          </a:prstGeom>
        </p:spPr>
      </p:pic>
      <p:pic>
        <p:nvPicPr>
          <p:cNvPr id="26" name="図 25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3158A4C-E0F7-6B11-1E32-C1525A370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9095042" y="2958079"/>
            <a:ext cx="671689" cy="801511"/>
          </a:xfrm>
          <a:prstGeom prst="rect">
            <a:avLst/>
          </a:prstGeom>
        </p:spPr>
      </p:pic>
      <p:pic>
        <p:nvPicPr>
          <p:cNvPr id="27" name="図 26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98BEDE3-2302-32E3-0D59-559B0FD81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9766731" y="2958079"/>
            <a:ext cx="671689" cy="801511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EC522AF-5E13-CB0E-A96B-E3C25D3500A9}"/>
              </a:ext>
            </a:extLst>
          </p:cNvPr>
          <p:cNvSpPr txBox="1"/>
          <p:nvPr/>
        </p:nvSpPr>
        <p:spPr>
          <a:xfrm>
            <a:off x="8495543" y="283164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謄本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0AD9678-9DC4-7139-D61E-4D28DA66DF53}"/>
              </a:ext>
            </a:extLst>
          </p:cNvPr>
          <p:cNvSpPr txBox="1"/>
          <p:nvPr/>
        </p:nvSpPr>
        <p:spPr>
          <a:xfrm>
            <a:off x="9184664" y="283164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構図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0B02D5D-6C87-C8AC-0C2C-E10B8A361982}"/>
              </a:ext>
            </a:extLst>
          </p:cNvPr>
          <p:cNvSpPr txBox="1"/>
          <p:nvPr/>
        </p:nvSpPr>
        <p:spPr>
          <a:xfrm>
            <a:off x="9873785" y="283164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図面</a:t>
            </a:r>
          </a:p>
        </p:txBody>
      </p:sp>
      <p:pic>
        <p:nvPicPr>
          <p:cNvPr id="31" name="図 30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1B290EC-758C-8E87-5755-60723782C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8405921" y="3983744"/>
            <a:ext cx="671689" cy="801511"/>
          </a:xfrm>
          <a:prstGeom prst="rect">
            <a:avLst/>
          </a:prstGeom>
        </p:spPr>
      </p:pic>
      <p:pic>
        <p:nvPicPr>
          <p:cNvPr id="32" name="図 31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BB59314-C5A9-B6BC-FE63-DAC1064F5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9095042" y="3983743"/>
            <a:ext cx="671689" cy="801511"/>
          </a:xfrm>
          <a:prstGeom prst="rect">
            <a:avLst/>
          </a:prstGeom>
        </p:spPr>
      </p:pic>
      <p:pic>
        <p:nvPicPr>
          <p:cNvPr id="33" name="図 32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A4ECBEB-149F-F8CC-F03F-59DD2CB60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9766731" y="3983743"/>
            <a:ext cx="671689" cy="801511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167AF0C-F951-220A-4A93-4F991CD82073}"/>
              </a:ext>
            </a:extLst>
          </p:cNvPr>
          <p:cNvSpPr txBox="1"/>
          <p:nvPr/>
        </p:nvSpPr>
        <p:spPr>
          <a:xfrm>
            <a:off x="8578495" y="385996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…</a:t>
            </a:r>
            <a:endParaRPr kumimoji="1" lang="ja-JP" altLang="en-US" sz="1200" dirty="0"/>
          </a:p>
        </p:txBody>
      </p:sp>
      <p:pic>
        <p:nvPicPr>
          <p:cNvPr id="37" name="図 36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041009F-61F4-22C4-D0D2-93FA7D687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8423353" y="4738487"/>
            <a:ext cx="671689" cy="801511"/>
          </a:xfrm>
          <a:prstGeom prst="rect">
            <a:avLst/>
          </a:prstGeom>
        </p:spPr>
      </p:pic>
      <p:pic>
        <p:nvPicPr>
          <p:cNvPr id="38" name="図 37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5007FB1-3E3C-5A8C-4688-7DFAAE40A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9112474" y="4738486"/>
            <a:ext cx="671689" cy="801511"/>
          </a:xfrm>
          <a:prstGeom prst="rect">
            <a:avLst/>
          </a:prstGeom>
        </p:spPr>
      </p:pic>
      <p:pic>
        <p:nvPicPr>
          <p:cNvPr id="39" name="図 38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85F4029-1DDD-5D9F-5884-66F05DCD6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9784163" y="4738486"/>
            <a:ext cx="671689" cy="801511"/>
          </a:xfrm>
          <a:prstGeom prst="rect">
            <a:avLst/>
          </a:prstGeom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20991B5-4573-6E4F-5BDD-C15333CB3017}"/>
              </a:ext>
            </a:extLst>
          </p:cNvPr>
          <p:cNvSpPr txBox="1"/>
          <p:nvPr/>
        </p:nvSpPr>
        <p:spPr>
          <a:xfrm>
            <a:off x="9279041" y="385996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3A9189B-F0C5-AD2C-8F52-82BD8AF6D56A}"/>
              </a:ext>
            </a:extLst>
          </p:cNvPr>
          <p:cNvSpPr txBox="1"/>
          <p:nvPr/>
        </p:nvSpPr>
        <p:spPr>
          <a:xfrm>
            <a:off x="9951518" y="385996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FD1EA01-752E-784C-E2CB-3D6114CC18EF}"/>
              </a:ext>
            </a:extLst>
          </p:cNvPr>
          <p:cNvSpPr txBox="1"/>
          <p:nvPr/>
        </p:nvSpPr>
        <p:spPr>
          <a:xfrm>
            <a:off x="5522045" y="989943"/>
            <a:ext cx="4351740" cy="36933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半自動で</a:t>
            </a:r>
            <a:r>
              <a:rPr kumimoji="1" lang="en-US" altLang="ja-JP" b="1" dirty="0"/>
              <a:t>PDF</a:t>
            </a:r>
            <a:r>
              <a:rPr kumimoji="1" lang="ja-JP" altLang="en-US" b="1" dirty="0"/>
              <a:t>を整理</a:t>
            </a:r>
          </a:p>
        </p:txBody>
      </p:sp>
    </p:spTree>
    <p:extLst>
      <p:ext uri="{BB962C8B-B14F-4D97-AF65-F5344CB8AC3E}">
        <p14:creationId xmlns:p14="http://schemas.microsoft.com/office/powerpoint/2010/main" val="326590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C27C-D275-4752-2D9E-E0208890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51DB0A-E72B-61F6-25A6-88A1719AEEE7}"/>
              </a:ext>
            </a:extLst>
          </p:cNvPr>
          <p:cNvSpPr txBox="1"/>
          <p:nvPr/>
        </p:nvSpPr>
        <p:spPr>
          <a:xfrm>
            <a:off x="1118704" y="2666228"/>
            <a:ext cx="2031325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スキャンデータ</a:t>
            </a:r>
            <a:r>
              <a:rPr lang="ja-JP" altLang="en-US" b="1" dirty="0"/>
              <a:t>等</a:t>
            </a:r>
            <a:endParaRPr kumimoji="1" lang="en-US" altLang="ja-JP" b="1" dirty="0"/>
          </a:p>
        </p:txBody>
      </p:sp>
      <p:pic>
        <p:nvPicPr>
          <p:cNvPr id="1026" name="Picture 2" descr="ocrイラスト｜無料イラスト・フリー素材なら「イラストAC」">
            <a:extLst>
              <a:ext uri="{FF2B5EF4-FFF2-40B4-BE49-F238E27FC236}">
                <a16:creationId xmlns:a16="http://schemas.microsoft.com/office/drawing/2014/main" id="{503A7DFB-2EEE-46C4-4215-A653BDD48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560" y="2666228"/>
            <a:ext cx="1730801" cy="173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55926EF-6A8C-47FF-93DD-20CFBAE5B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515184" y="3035560"/>
            <a:ext cx="1007534" cy="1202267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DA5D72E4-AC76-F57B-58EF-399A5F99DC5C}"/>
              </a:ext>
            </a:extLst>
          </p:cNvPr>
          <p:cNvSpPr/>
          <p:nvPr/>
        </p:nvSpPr>
        <p:spPr>
          <a:xfrm>
            <a:off x="2755885" y="3334223"/>
            <a:ext cx="1342822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B9D4448-F1AE-7F4C-E95D-7737EC4B395B}"/>
              </a:ext>
            </a:extLst>
          </p:cNvPr>
          <p:cNvSpPr txBox="1"/>
          <p:nvPr/>
        </p:nvSpPr>
        <p:spPr>
          <a:xfrm>
            <a:off x="4173297" y="1681920"/>
            <a:ext cx="2031325" cy="646331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OCR</a:t>
            </a:r>
            <a:r>
              <a:rPr lang="ja-JP" altLang="en-US" b="1" dirty="0"/>
              <a:t>機能で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書類データを解析</a:t>
            </a:r>
            <a:endParaRPr kumimoji="1" lang="en-US" altLang="ja-JP" b="1" dirty="0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AF0C7397-742A-FB4E-2C49-074494DD45DE}"/>
              </a:ext>
            </a:extLst>
          </p:cNvPr>
          <p:cNvSpPr/>
          <p:nvPr/>
        </p:nvSpPr>
        <p:spPr>
          <a:xfrm>
            <a:off x="6556481" y="3334222"/>
            <a:ext cx="1342822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EBA087-9110-9A2B-A658-F5745553FCE6}"/>
              </a:ext>
            </a:extLst>
          </p:cNvPr>
          <p:cNvSpPr txBox="1"/>
          <p:nvPr/>
        </p:nvSpPr>
        <p:spPr>
          <a:xfrm>
            <a:off x="8696363" y="1681920"/>
            <a:ext cx="249299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①売買契約書</a:t>
            </a:r>
            <a:endParaRPr lang="en-US" altLang="ja-JP" b="1" dirty="0"/>
          </a:p>
          <a:p>
            <a:r>
              <a:rPr lang="ja-JP" altLang="en-US" b="1" dirty="0"/>
              <a:t>②重要事項説明書</a:t>
            </a:r>
            <a:endParaRPr lang="en-US" altLang="ja-JP" b="1" dirty="0"/>
          </a:p>
          <a:p>
            <a:r>
              <a:rPr kumimoji="1" lang="ja-JP" altLang="en-US" b="1" dirty="0"/>
              <a:t>③媒介契約書（売却）</a:t>
            </a:r>
            <a:endParaRPr kumimoji="1" lang="en-US" altLang="ja-JP" b="1" dirty="0"/>
          </a:p>
          <a:p>
            <a:r>
              <a:rPr lang="ja-JP" altLang="en-US" b="1" dirty="0"/>
              <a:t>④媒介契約書（購入）</a:t>
            </a:r>
            <a:endParaRPr kumimoji="1" lang="en-US" altLang="ja-JP" b="1" dirty="0"/>
          </a:p>
          <a:p>
            <a:r>
              <a:rPr kumimoji="1" lang="ja-JP" altLang="en-US" b="1" dirty="0"/>
              <a:t>⑤販売図面</a:t>
            </a:r>
            <a:endParaRPr kumimoji="1" lang="en-US" altLang="ja-JP" b="1" dirty="0"/>
          </a:p>
          <a:p>
            <a:r>
              <a:rPr lang="ja-JP" altLang="en-US" b="1" dirty="0"/>
              <a:t>⑥謄本</a:t>
            </a:r>
            <a:endParaRPr lang="en-US" altLang="ja-JP" b="1" dirty="0"/>
          </a:p>
          <a:p>
            <a:r>
              <a:rPr kumimoji="1" lang="ja-JP" altLang="en-US" b="1" dirty="0"/>
              <a:t>⑦公図</a:t>
            </a:r>
            <a:endParaRPr kumimoji="1" lang="en-US" altLang="ja-JP" b="1" dirty="0"/>
          </a:p>
          <a:p>
            <a:r>
              <a:rPr lang="ja-JP" altLang="en-US" b="1" dirty="0"/>
              <a:t>⑧測量図</a:t>
            </a:r>
            <a:endParaRPr lang="en-US" altLang="ja-JP" b="1" dirty="0"/>
          </a:p>
          <a:p>
            <a:r>
              <a:rPr kumimoji="1" lang="ja-JP" altLang="en-US" b="1" dirty="0"/>
              <a:t>⑨検査済証</a:t>
            </a:r>
            <a:endParaRPr kumimoji="1" lang="en-US" altLang="ja-JP" b="1" dirty="0"/>
          </a:p>
          <a:p>
            <a:r>
              <a:rPr lang="ja-JP" altLang="en-US" b="1" dirty="0"/>
              <a:t>⑩確認済証</a:t>
            </a:r>
            <a:endParaRPr lang="en-US" altLang="ja-JP" b="1" dirty="0"/>
          </a:p>
          <a:p>
            <a:r>
              <a:rPr kumimoji="1" lang="ja-JP" altLang="en-US" b="1" dirty="0"/>
              <a:t>⑪確認申請書</a:t>
            </a:r>
            <a:endParaRPr kumimoji="1" lang="en-US" altLang="ja-JP" b="1" dirty="0"/>
          </a:p>
          <a:p>
            <a:r>
              <a:rPr lang="ja-JP" altLang="en-US" b="1" dirty="0"/>
              <a:t>⑫平面図</a:t>
            </a:r>
            <a:endParaRPr lang="en-US" altLang="ja-JP" b="1" dirty="0"/>
          </a:p>
          <a:p>
            <a:r>
              <a:rPr kumimoji="1" lang="ja-JP" altLang="en-US" b="1" dirty="0"/>
              <a:t>⑬立面図</a:t>
            </a:r>
            <a:endParaRPr kumimoji="1" lang="en-US" altLang="ja-JP" b="1" dirty="0"/>
          </a:p>
          <a:p>
            <a:r>
              <a:rPr lang="ja-JP" altLang="en-US" b="1" dirty="0"/>
              <a:t>⑭配置図</a:t>
            </a:r>
            <a:endParaRPr lang="en-US" altLang="ja-JP" b="1" dirty="0"/>
          </a:p>
          <a:p>
            <a:r>
              <a:rPr kumimoji="1" lang="ja-JP" altLang="en-US" b="1" dirty="0"/>
              <a:t>⑮</a:t>
            </a:r>
            <a:r>
              <a:rPr kumimoji="1" lang="en-US" altLang="ja-JP" b="1" dirty="0"/>
              <a:t>…</a:t>
            </a:r>
          </a:p>
          <a:p>
            <a:r>
              <a:rPr lang="ja-JP" altLang="en-US" b="1" dirty="0"/>
              <a:t> ⋮</a:t>
            </a:r>
            <a:endParaRPr kumimoji="1" lang="en-US" altLang="ja-JP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A326809-21AE-1E43-5B67-61A50D26A57A}"/>
              </a:ext>
            </a:extLst>
          </p:cNvPr>
          <p:cNvSpPr txBox="1"/>
          <p:nvPr/>
        </p:nvSpPr>
        <p:spPr>
          <a:xfrm>
            <a:off x="7899303" y="928763"/>
            <a:ext cx="3185487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読み取った書類を自動で分類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45990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6081-8CA9-BCAA-6336-A364B879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2A32D664-C333-6937-3C49-84BB74F50F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89" y="129819"/>
            <a:ext cx="10879068" cy="6277851"/>
          </a:xfrm>
          <a:prstGeom prst="rect">
            <a:avLst/>
          </a:prstGeom>
        </p:spPr>
      </p:pic>
      <p:pic>
        <p:nvPicPr>
          <p:cNvPr id="5" name="図 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F465AC7C-264A-6BDB-EB12-1CC95E389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99" t="7543" r="1404" b="8068"/>
          <a:stretch>
            <a:fillRect/>
          </a:stretch>
        </p:blipFill>
        <p:spPr>
          <a:xfrm>
            <a:off x="7824247" y="603316"/>
            <a:ext cx="3285242" cy="5297864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9942A4B-3BEC-43A5-927A-7BC40C87B9AD}"/>
              </a:ext>
            </a:extLst>
          </p:cNvPr>
          <p:cNvSpPr/>
          <p:nvPr/>
        </p:nvSpPr>
        <p:spPr>
          <a:xfrm>
            <a:off x="7824247" y="603315"/>
            <a:ext cx="3285242" cy="52978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5ED5EA1-ED41-12FD-E7B2-27B81695D6C5}"/>
              </a:ext>
            </a:extLst>
          </p:cNvPr>
          <p:cNvSpPr txBox="1"/>
          <p:nvPr/>
        </p:nvSpPr>
        <p:spPr>
          <a:xfrm>
            <a:off x="8093738" y="2845309"/>
            <a:ext cx="2746265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PDF</a:t>
            </a:r>
            <a:r>
              <a:rPr lang="ja-JP" altLang="en-US" b="1" dirty="0"/>
              <a:t>から自動で名前設定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170561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E8EB-0CEE-2DB8-1712-E2C28FF1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02BCFF7-CDD4-8196-5A8C-291A9AFA04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999672" y="848134"/>
            <a:ext cx="7485605" cy="5007719"/>
          </a:xfrm>
          <a:prstGeom prst="rect">
            <a:avLst/>
          </a:prstGeom>
        </p:spPr>
      </p:pic>
      <p:pic>
        <p:nvPicPr>
          <p:cNvPr id="4" name="図 3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50CFCE8-05E0-E511-4895-8FC3FACAFB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13" t="5750" r="25844"/>
          <a:stretch>
            <a:fillRect/>
          </a:stretch>
        </p:blipFill>
        <p:spPr>
          <a:xfrm>
            <a:off x="3071091" y="1136072"/>
            <a:ext cx="4479636" cy="471978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C873567-F00F-B120-5D6A-BAF10A109C38}"/>
              </a:ext>
            </a:extLst>
          </p:cNvPr>
          <p:cNvSpPr/>
          <p:nvPr/>
        </p:nvSpPr>
        <p:spPr>
          <a:xfrm>
            <a:off x="3071091" y="1136073"/>
            <a:ext cx="4479636" cy="4719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D4489F-4EDD-2A24-3B2D-CA194BF41258}"/>
              </a:ext>
            </a:extLst>
          </p:cNvPr>
          <p:cNvSpPr txBox="1"/>
          <p:nvPr/>
        </p:nvSpPr>
        <p:spPr>
          <a:xfrm>
            <a:off x="4064414" y="3223490"/>
            <a:ext cx="2492990" cy="646331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直感的な操作が可能な</a:t>
            </a:r>
            <a:endParaRPr lang="en-US" altLang="ja-JP" b="1" dirty="0"/>
          </a:p>
          <a:p>
            <a:pPr algn="ctr"/>
            <a:r>
              <a:rPr lang="en-US" altLang="ja-JP" b="1" dirty="0"/>
              <a:t>PDF</a:t>
            </a:r>
            <a:r>
              <a:rPr lang="ja-JP" altLang="en-US" b="1" dirty="0"/>
              <a:t>ビューワー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40989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B86E-4649-EA24-B019-ABF139C8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7727137-67A2-867E-1FC1-C6B87A59A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700" y="1371599"/>
            <a:ext cx="7290216" cy="42579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図 3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0E62C75-E6C4-176B-EF9B-5C594F60D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579151" y="2517244"/>
            <a:ext cx="671689" cy="801511"/>
          </a:xfrm>
          <a:prstGeom prst="rect">
            <a:avLst/>
          </a:prstGeom>
        </p:spPr>
      </p:pic>
      <p:pic>
        <p:nvPicPr>
          <p:cNvPr id="5" name="図 4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539BB07-31F5-C6DD-8B9D-96EF6DE45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338799" y="3004324"/>
            <a:ext cx="671689" cy="801511"/>
          </a:xfrm>
          <a:prstGeom prst="rect">
            <a:avLst/>
          </a:prstGeom>
        </p:spPr>
      </p:pic>
      <p:pic>
        <p:nvPicPr>
          <p:cNvPr id="6" name="図 5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797B3D0-EDB2-CFF2-AF39-45E4345F9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871591" y="2647274"/>
            <a:ext cx="671689" cy="801511"/>
          </a:xfrm>
          <a:prstGeom prst="rect">
            <a:avLst/>
          </a:prstGeom>
        </p:spPr>
      </p:pic>
      <p:pic>
        <p:nvPicPr>
          <p:cNvPr id="7" name="図 6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1501DEC-558D-15F4-F047-81E931FF7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744267" y="3405080"/>
            <a:ext cx="671689" cy="801511"/>
          </a:xfrm>
          <a:prstGeom prst="rect">
            <a:avLst/>
          </a:prstGeom>
        </p:spPr>
      </p:pic>
      <p:pic>
        <p:nvPicPr>
          <p:cNvPr id="8" name="図 7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C211F55-BDF3-C8BC-E9A0-AC64EC259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072578" y="3581681"/>
            <a:ext cx="671689" cy="80151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C701EB-623F-1907-DBD3-C169F5A24441}"/>
              </a:ext>
            </a:extLst>
          </p:cNvPr>
          <p:cNvSpPr txBox="1"/>
          <p:nvPr/>
        </p:nvSpPr>
        <p:spPr>
          <a:xfrm>
            <a:off x="1072578" y="2059612"/>
            <a:ext cx="1361270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複数の</a:t>
            </a:r>
            <a:r>
              <a:rPr kumimoji="1" lang="en-US" altLang="ja-JP" b="1" dirty="0"/>
              <a:t>PDF</a:t>
            </a:r>
            <a:endParaRPr kumimoji="1" lang="ja-JP" altLang="en-US" b="1" dirty="0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840959CA-8FB4-AA2F-3F3A-54EF0CB38AE4}"/>
              </a:ext>
            </a:extLst>
          </p:cNvPr>
          <p:cNvSpPr/>
          <p:nvPr/>
        </p:nvSpPr>
        <p:spPr>
          <a:xfrm>
            <a:off x="2821424" y="3126529"/>
            <a:ext cx="2616850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71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CBC3-E0C2-C7DF-3328-A39011F2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5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13CD-B8CF-3C71-D18E-B343F707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7840-4AAD-73EA-FC05-6DE1953C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3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5793</TotalTime>
  <Words>101</Words>
  <Application>Microsoft Office PowerPoint</Application>
  <PresentationFormat>ワイド画面</PresentationFormat>
  <Paragraphs>36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東宝ハウスNEXT 石井 秀龍</dc:creator>
  <cp:lastModifiedBy>東宝ハウスNEXT 石井 秀龍</cp:lastModifiedBy>
  <cp:revision>6</cp:revision>
  <dcterms:created xsi:type="dcterms:W3CDTF">2026-01-08T08:33:31Z</dcterms:created>
  <dcterms:modified xsi:type="dcterms:W3CDTF">2026-02-02T06:50:20Z</dcterms:modified>
</cp:coreProperties>
</file>